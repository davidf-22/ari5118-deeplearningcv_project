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93" r:id="rId5"/>
    <p:sldId id="303" r:id="rId6"/>
    <p:sldId id="302" r:id="rId7"/>
    <p:sldId id="305" r:id="rId8"/>
    <p:sldId id="308" r:id="rId9"/>
    <p:sldId id="304" r:id="rId10"/>
    <p:sldId id="309" r:id="rId11"/>
    <p:sldId id="310" r:id="rId12"/>
    <p:sldId id="311" r:id="rId13"/>
    <p:sldId id="314" r:id="rId14"/>
    <p:sldId id="312" r:id="rId15"/>
    <p:sldId id="313" r:id="rId16"/>
    <p:sldId id="307" r:id="rId17"/>
    <p:sldId id="29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DF2C487-7E3B-4375-AB0C-E6181447AF92}">
          <p14:sldIdLst>
            <p14:sldId id="293"/>
          </p14:sldIdLst>
        </p14:section>
        <p14:section name="Main Content" id="{4126060E-D05A-4FD9-9FDC-6F7E0842FDDA}">
          <p14:sldIdLst>
            <p14:sldId id="303"/>
            <p14:sldId id="302"/>
            <p14:sldId id="305"/>
            <p14:sldId id="308"/>
            <p14:sldId id="304"/>
            <p14:sldId id="309"/>
            <p14:sldId id="310"/>
            <p14:sldId id="311"/>
            <p14:sldId id="314"/>
          </p14:sldIdLst>
        </p14:section>
        <p14:section name="Optional" id="{8E643D8B-EA73-4F2C-9563-16DA589CA293}">
          <p14:sldIdLst>
            <p14:sldId id="312"/>
            <p14:sldId id="313"/>
          </p14:sldIdLst>
        </p14:section>
        <p14:section name="Final Set" id="{2C054958-B4A6-4E42-8C8A-FDBD51C846E1}">
          <p14:sldIdLst>
            <p14:sldId id="307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5C70"/>
    <a:srgbClr val="53235D"/>
    <a:srgbClr val="C25248"/>
    <a:srgbClr val="7E314C"/>
    <a:srgbClr val="652748"/>
    <a:srgbClr val="3E1943"/>
    <a:srgbClr val="05043B"/>
    <a:srgbClr val="4D1F45"/>
    <a:srgbClr val="87344D"/>
    <a:srgbClr val="C469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902" autoAdjust="0"/>
  </p:normalViewPr>
  <p:slideViewPr>
    <p:cSldViewPr snapToGrid="0">
      <p:cViewPr>
        <p:scale>
          <a:sx n="75" d="100"/>
          <a:sy n="75" d="100"/>
        </p:scale>
        <p:origin x="893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T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242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 dirty="0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hdphoto" Target="../media/hdphoto2.wdp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microsoft.com/office/2007/relationships/hdphoto" Target="../media/hdphoto2.wdp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2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microsoft.com/office/2007/relationships/hdphoto" Target="../media/hdphoto2.wdp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image" Target="../media/image2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46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microsoft.com/office/2007/relationships/hdphoto" Target="../media/hdphoto2.wdp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6.png"/><Relationship Id="rId9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microsoft.com/office/2007/relationships/hdphoto" Target="../media/hdphoto2.wdp"/><Relationship Id="rId7" Type="http://schemas.openxmlformats.org/officeDocument/2006/relationships/image" Target="../media/image5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6.png"/><Relationship Id="rId9" Type="http://schemas.openxmlformats.org/officeDocument/2006/relationships/image" Target="../media/image6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microsoft.com/office/2007/relationships/hdphoto" Target="../media/hdphoto2.wdp"/><Relationship Id="rId7" Type="http://schemas.openxmlformats.org/officeDocument/2006/relationships/image" Target="../media/image6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.png"/><Relationship Id="rId9" Type="http://schemas.openxmlformats.org/officeDocument/2006/relationships/image" Target="../media/image65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8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70.png"/><Relationship Id="rId7" Type="http://schemas.microsoft.com/office/2007/relationships/hdphoto" Target="../media/hdphoto2.wdp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11" Type="http://schemas.microsoft.com/office/2007/relationships/hdphoto" Target="../media/hdphoto5.wdp"/><Relationship Id="rId5" Type="http://schemas.openxmlformats.org/officeDocument/2006/relationships/hyperlink" Target="https://github.com/DavidF-22/ARI5118-DeepLearningCV_Project" TargetMode="External"/><Relationship Id="rId10" Type="http://schemas.openxmlformats.org/officeDocument/2006/relationships/image" Target="../media/image72.png"/><Relationship Id="rId4" Type="http://schemas.microsoft.com/office/2007/relationships/hdphoto" Target="../media/hdphoto3.wdp"/><Relationship Id="rId9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10916"/>
            <a:ext cx="9144000" cy="1413607"/>
          </a:xfrm>
        </p:spPr>
        <p:txBody>
          <a:bodyPr/>
          <a:lstStyle/>
          <a:p>
            <a:r>
              <a:rPr lang="en-GB" dirty="0"/>
              <a:t>CNN Feature Visualisation and DEEP DREAM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89F31F7-6A88-0F4E-B919-B39554621345}"/>
              </a:ext>
            </a:extLst>
          </p:cNvPr>
          <p:cNvGrpSpPr/>
          <p:nvPr/>
        </p:nvGrpSpPr>
        <p:grpSpPr>
          <a:xfrm>
            <a:off x="2399071" y="3706759"/>
            <a:ext cx="7393858" cy="583513"/>
            <a:chOff x="2399071" y="3333135"/>
            <a:chExt cx="7393858" cy="583513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DB60F951-EF69-E3A2-E1CF-4BBB582E6328}"/>
                </a:ext>
              </a:extLst>
            </p:cNvPr>
            <p:cNvCxnSpPr>
              <a:cxnSpLocks/>
            </p:cNvCxnSpPr>
            <p:nvPr/>
          </p:nvCxnSpPr>
          <p:spPr>
            <a:xfrm>
              <a:off x="2399071" y="3333135"/>
              <a:ext cx="739385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F8DB7DF-8D7A-7FB6-2F5A-C796D67DB17A}"/>
                </a:ext>
              </a:extLst>
            </p:cNvPr>
            <p:cNvSpPr txBox="1"/>
            <p:nvPr/>
          </p:nvSpPr>
          <p:spPr>
            <a:xfrm>
              <a:off x="5193124" y="3485761"/>
              <a:ext cx="180575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200" dirty="0">
                  <a:solidFill>
                    <a:schemeClr val="bg1"/>
                  </a:solidFill>
                  <a:latin typeface="+mj-lt"/>
                </a:rPr>
                <a:t>David Farrugia</a:t>
              </a:r>
              <a:endParaRPr lang="en-MT" sz="2200" dirty="0">
                <a:solidFill>
                  <a:schemeClr val="bg1"/>
                </a:solidFill>
                <a:latin typeface="+mj-lt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85263F8C-FC9C-F032-A5DD-42D7FFD45E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820" t="16131" r="7884" b="18295"/>
          <a:stretch>
            <a:fillRect/>
          </a:stretch>
        </p:blipFill>
        <p:spPr>
          <a:xfrm>
            <a:off x="1" y="6318402"/>
            <a:ext cx="1455173" cy="53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372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A2D8-1A82-E59E-F506-56C56C0C9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Close-up of circuit board">
            <a:extLst>
              <a:ext uri="{FF2B5EF4-FFF2-40B4-BE49-F238E27FC236}">
                <a16:creationId xmlns:a16="http://schemas.microsoft.com/office/drawing/2014/main" id="{8FAE9F32-8A16-207E-4417-DE15EA6D2A6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/>
        </p:blipFill>
        <p:spPr>
          <a:xfrm>
            <a:off x="2319357" y="1255169"/>
            <a:ext cx="8302969" cy="45346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B2ADD9-A0A3-462F-4F22-93658311B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8" r="21860" b="11153"/>
          <a:stretch>
            <a:fillRect/>
          </a:stretch>
        </p:blipFill>
        <p:spPr>
          <a:xfrm>
            <a:off x="4286659" y="1513265"/>
            <a:ext cx="3618671" cy="38314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BAF7B2-7DE1-C655-C7C8-8CF871CA75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820" t="16131" r="7884" b="18295"/>
          <a:stretch>
            <a:fillRect/>
          </a:stretch>
        </p:blipFill>
        <p:spPr>
          <a:xfrm>
            <a:off x="1" y="6318402"/>
            <a:ext cx="1455173" cy="5395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937447-FFF8-4505-9FEA-6663FC6C7F47}"/>
              </a:ext>
            </a:extLst>
          </p:cNvPr>
          <p:cNvSpPr txBox="1"/>
          <p:nvPr/>
        </p:nvSpPr>
        <p:spPr>
          <a:xfrm>
            <a:off x="4021768" y="207077"/>
            <a:ext cx="41484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000" b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Why Visualise CNNs?</a:t>
            </a:r>
            <a:endParaRPr kumimoji="0" lang="en-MT" sz="3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EA5C32-5852-ACB2-4AF6-60F4ED124EF0}"/>
              </a:ext>
            </a:extLst>
          </p:cNvPr>
          <p:cNvGrpSpPr/>
          <p:nvPr/>
        </p:nvGrpSpPr>
        <p:grpSpPr>
          <a:xfrm>
            <a:off x="3936997" y="832366"/>
            <a:ext cx="4318000" cy="122914"/>
            <a:chOff x="3936997" y="832366"/>
            <a:chExt cx="4318000" cy="122914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8DE2F75F-077D-EA8A-7373-72F7E810721F}"/>
                </a:ext>
              </a:extLst>
            </p:cNvPr>
            <p:cNvCxnSpPr>
              <a:cxnSpLocks/>
            </p:cNvCxnSpPr>
            <p:nvPr/>
          </p:nvCxnSpPr>
          <p:spPr>
            <a:xfrm>
              <a:off x="3936997" y="894080"/>
              <a:ext cx="4318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4093905-138A-8E7E-ABC3-8960DD642227}"/>
                </a:ext>
              </a:extLst>
            </p:cNvPr>
            <p:cNvSpPr/>
            <p:nvPr/>
          </p:nvSpPr>
          <p:spPr>
            <a:xfrm>
              <a:off x="6034538" y="832366"/>
              <a:ext cx="122914" cy="122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T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47C726B8-C6FB-0F4C-0491-54A2381D20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72" y="2601061"/>
            <a:ext cx="2004135" cy="1842914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3723508-19DE-2424-3A79-AFD583BE8316}"/>
              </a:ext>
            </a:extLst>
          </p:cNvPr>
          <p:cNvCxnSpPr>
            <a:cxnSpLocks/>
          </p:cNvCxnSpPr>
          <p:nvPr/>
        </p:nvCxnSpPr>
        <p:spPr>
          <a:xfrm>
            <a:off x="8170227" y="3522518"/>
            <a:ext cx="727364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45D2626-35DD-8F37-D877-7BC2DFAD5C2B}"/>
              </a:ext>
            </a:extLst>
          </p:cNvPr>
          <p:cNvCxnSpPr>
            <a:cxnSpLocks/>
          </p:cNvCxnSpPr>
          <p:nvPr/>
        </p:nvCxnSpPr>
        <p:spPr>
          <a:xfrm>
            <a:off x="3294404" y="3522518"/>
            <a:ext cx="727364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95ACE1C-FD61-394D-1484-F5FFEA38EC4F}"/>
              </a:ext>
            </a:extLst>
          </p:cNvPr>
          <p:cNvGrpSpPr/>
          <p:nvPr/>
        </p:nvGrpSpPr>
        <p:grpSpPr>
          <a:xfrm>
            <a:off x="7905330" y="2823210"/>
            <a:ext cx="4811698" cy="1398616"/>
            <a:chOff x="3696231" y="2196640"/>
            <a:chExt cx="4811698" cy="1398616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D78554E-883C-D99D-1AF2-3723E17CBEA4}"/>
                </a:ext>
              </a:extLst>
            </p:cNvPr>
            <p:cNvSpPr/>
            <p:nvPr/>
          </p:nvSpPr>
          <p:spPr>
            <a:xfrm>
              <a:off x="4873337" y="2196640"/>
              <a:ext cx="2435480" cy="1398616"/>
            </a:xfrm>
            <a:prstGeom prst="roundRect">
              <a:avLst>
                <a:gd name="adj" fmla="val 7584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T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5359751-049F-05EC-001E-E15C01C9449B}"/>
                </a:ext>
              </a:extLst>
            </p:cNvPr>
            <p:cNvSpPr txBox="1"/>
            <p:nvPr/>
          </p:nvSpPr>
          <p:spPr>
            <a:xfrm>
              <a:off x="3696231" y="2285063"/>
              <a:ext cx="481169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Prediction</a:t>
              </a:r>
              <a:endParaRPr lang="en-MT" sz="2200" dirty="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4CA0281-95C4-ADD9-F4CB-29FD22C43AAC}"/>
                </a:ext>
              </a:extLst>
            </p:cNvPr>
            <p:cNvCxnSpPr>
              <a:cxnSpLocks/>
            </p:cNvCxnSpPr>
            <p:nvPr/>
          </p:nvCxnSpPr>
          <p:spPr>
            <a:xfrm>
              <a:off x="5112788" y="2791614"/>
              <a:ext cx="194867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29AC560-9997-7235-6D28-75E478C37175}"/>
                </a:ext>
              </a:extLst>
            </p:cNvPr>
            <p:cNvSpPr txBox="1"/>
            <p:nvPr/>
          </p:nvSpPr>
          <p:spPr>
            <a:xfrm>
              <a:off x="5459992" y="2858832"/>
              <a:ext cx="12720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Parrot</a:t>
              </a:r>
              <a:endParaRPr lang="en-MT" dirty="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F603747-20E3-64C5-FBC2-1089E9224742}"/>
                </a:ext>
              </a:extLst>
            </p:cNvPr>
            <p:cNvSpPr txBox="1"/>
            <p:nvPr/>
          </p:nvSpPr>
          <p:spPr>
            <a:xfrm>
              <a:off x="5773412" y="3153186"/>
              <a:ext cx="727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Segoe UI" panose="020B0502040204020203" pitchFamily="34" charset="0"/>
                  <a:cs typeface="Segoe UI" panose="020B0502040204020203" pitchFamily="34" charset="0"/>
                </a:rPr>
                <a:t>96%</a:t>
              </a:r>
              <a:endParaRPr lang="en-MT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924511C-7330-9C29-A171-E4BBC08B85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6067" y="805433"/>
            <a:ext cx="4499853" cy="17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656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D06D3A-07B8-B145-6DD0-9BB7AFC11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8285"/>
            <a:ext cx="12192000" cy="42410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4AF6FD-D5BB-2CA4-5DC5-CDD0FF3E82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820" t="16131" r="7884" b="18295"/>
          <a:stretch>
            <a:fillRect/>
          </a:stretch>
        </p:blipFill>
        <p:spPr>
          <a:xfrm>
            <a:off x="1" y="6318402"/>
            <a:ext cx="1455173" cy="5395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5CA121-66E0-22C2-8547-01C42B57F364}"/>
              </a:ext>
            </a:extLst>
          </p:cNvPr>
          <p:cNvSpPr txBox="1"/>
          <p:nvPr/>
        </p:nvSpPr>
        <p:spPr>
          <a:xfrm>
            <a:off x="3937000" y="207077"/>
            <a:ext cx="4318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000" b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CNN Feature Hierarchy</a:t>
            </a:r>
            <a:endParaRPr kumimoji="0" lang="en-MT" sz="3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36D9D31-4417-9CD4-B877-CFA9B6B556E1}"/>
              </a:ext>
            </a:extLst>
          </p:cNvPr>
          <p:cNvGrpSpPr/>
          <p:nvPr/>
        </p:nvGrpSpPr>
        <p:grpSpPr>
          <a:xfrm>
            <a:off x="3936997" y="832366"/>
            <a:ext cx="4318000" cy="122914"/>
            <a:chOff x="3936997" y="832366"/>
            <a:chExt cx="4318000" cy="122914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4721DA4-DA86-CD79-CF89-94CF4CD77BD2}"/>
                </a:ext>
              </a:extLst>
            </p:cNvPr>
            <p:cNvCxnSpPr>
              <a:cxnSpLocks/>
            </p:cNvCxnSpPr>
            <p:nvPr/>
          </p:nvCxnSpPr>
          <p:spPr>
            <a:xfrm>
              <a:off x="3936997" y="894080"/>
              <a:ext cx="4318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62EFDDA-F3A3-EB6F-CCBD-67F65233227A}"/>
                </a:ext>
              </a:extLst>
            </p:cNvPr>
            <p:cNvSpPr/>
            <p:nvPr/>
          </p:nvSpPr>
          <p:spPr>
            <a:xfrm>
              <a:off x="6034538" y="832366"/>
              <a:ext cx="122914" cy="122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T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0E91852-F755-5623-1ACA-7103073C3D78}"/>
              </a:ext>
            </a:extLst>
          </p:cNvPr>
          <p:cNvGrpSpPr/>
          <p:nvPr/>
        </p:nvGrpSpPr>
        <p:grpSpPr>
          <a:xfrm>
            <a:off x="516082" y="5593069"/>
            <a:ext cx="11159836" cy="421893"/>
            <a:chOff x="516082" y="5593069"/>
            <a:chExt cx="11159836" cy="42189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9DAE45D-4FF2-3E1C-17A7-698D1DAAC220}"/>
                </a:ext>
              </a:extLst>
            </p:cNvPr>
            <p:cNvCxnSpPr>
              <a:cxnSpLocks/>
            </p:cNvCxnSpPr>
            <p:nvPr/>
          </p:nvCxnSpPr>
          <p:spPr>
            <a:xfrm>
              <a:off x="516082" y="5593069"/>
              <a:ext cx="11159836" cy="0"/>
            </a:xfrm>
            <a:prstGeom prst="straightConnector1">
              <a:avLst/>
            </a:prstGeom>
            <a:ln w="38100">
              <a:gradFill flip="none" rotWithShape="1">
                <a:gsLst>
                  <a:gs pos="0">
                    <a:schemeClr val="tx1"/>
                  </a:gs>
                  <a:gs pos="100000">
                    <a:srgbClr val="7F8994"/>
                  </a:gs>
                </a:gsLst>
                <a:lin ang="0" scaled="1"/>
                <a:tileRect/>
              </a:gradFill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7DAECC-E278-588E-6A6D-23CDDA54E439}"/>
                </a:ext>
              </a:extLst>
            </p:cNvPr>
            <p:cNvSpPr txBox="1"/>
            <p:nvPr/>
          </p:nvSpPr>
          <p:spPr>
            <a:xfrm>
              <a:off x="516082" y="5645630"/>
              <a:ext cx="2195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Low-Level Features</a:t>
              </a:r>
              <a:endParaRPr lang="en-MT" dirty="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64FAC74-49A8-73BE-4BDB-889A509C9A31}"/>
                </a:ext>
              </a:extLst>
            </p:cNvPr>
            <p:cNvSpPr txBox="1"/>
            <p:nvPr/>
          </p:nvSpPr>
          <p:spPr>
            <a:xfrm>
              <a:off x="9372600" y="5645630"/>
              <a:ext cx="2303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7F8994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High-Level Features</a:t>
              </a:r>
              <a:endParaRPr lang="en-MT" dirty="0">
                <a:solidFill>
                  <a:srgbClr val="7F899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4EB4EBD-40D4-B5B8-30A1-F2E3A8D195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6067" y="805433"/>
            <a:ext cx="4499853" cy="17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640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53984-40B7-AECC-2D47-2B13E587C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B70D8D-5C61-66AA-D4E0-E5D0E3DCEB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820" t="16131" r="7884" b="18295"/>
          <a:stretch>
            <a:fillRect/>
          </a:stretch>
        </p:blipFill>
        <p:spPr>
          <a:xfrm>
            <a:off x="1" y="6318402"/>
            <a:ext cx="1455173" cy="5395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AFA7D8-BD66-0BBB-BE9E-B45AD958EFCA}"/>
              </a:ext>
            </a:extLst>
          </p:cNvPr>
          <p:cNvSpPr txBox="1"/>
          <p:nvPr/>
        </p:nvSpPr>
        <p:spPr>
          <a:xfrm>
            <a:off x="3736687" y="207077"/>
            <a:ext cx="47186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What are Feature </a:t>
            </a:r>
            <a:r>
              <a:rPr lang="en-GB" sz="3000" b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Maps?</a:t>
            </a:r>
            <a:endParaRPr kumimoji="0" lang="en-MT" sz="3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EC6006B-4353-99A0-C76C-F66F9090A51C}"/>
              </a:ext>
            </a:extLst>
          </p:cNvPr>
          <p:cNvGrpSpPr/>
          <p:nvPr/>
        </p:nvGrpSpPr>
        <p:grpSpPr>
          <a:xfrm>
            <a:off x="3936997" y="832366"/>
            <a:ext cx="4318000" cy="122914"/>
            <a:chOff x="3936997" y="832366"/>
            <a:chExt cx="4318000" cy="122914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E55562B-8F6B-A1AD-3593-5A2A4AB2AF7A}"/>
                </a:ext>
              </a:extLst>
            </p:cNvPr>
            <p:cNvCxnSpPr>
              <a:cxnSpLocks/>
            </p:cNvCxnSpPr>
            <p:nvPr/>
          </p:nvCxnSpPr>
          <p:spPr>
            <a:xfrm>
              <a:off x="3936997" y="894080"/>
              <a:ext cx="4318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E581649-7ED0-1412-1719-875BA4216060}"/>
                </a:ext>
              </a:extLst>
            </p:cNvPr>
            <p:cNvSpPr/>
            <p:nvPr/>
          </p:nvSpPr>
          <p:spPr>
            <a:xfrm>
              <a:off x="6034538" y="832366"/>
              <a:ext cx="122914" cy="122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T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D2DEE83-A970-ECDF-FE6F-420FDEDA7484}"/>
              </a:ext>
            </a:extLst>
          </p:cNvPr>
          <p:cNvSpPr txBox="1"/>
          <p:nvPr/>
        </p:nvSpPr>
        <p:spPr>
          <a:xfrm>
            <a:off x="4621974" y="2361698"/>
            <a:ext cx="2948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Feature Maps from Conv 1</a:t>
            </a:r>
            <a:endParaRPr lang="en-MT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FD3337-B2D5-C1B7-3E21-068FD3230F7D}"/>
              </a:ext>
            </a:extLst>
          </p:cNvPr>
          <p:cNvSpPr txBox="1"/>
          <p:nvPr/>
        </p:nvSpPr>
        <p:spPr>
          <a:xfrm>
            <a:off x="4621974" y="4381758"/>
            <a:ext cx="2948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Feature Maps from Conv 3</a:t>
            </a:r>
            <a:endParaRPr lang="en-MT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5B0E154-01DE-02DB-8E49-05C599085539}"/>
              </a:ext>
            </a:extLst>
          </p:cNvPr>
          <p:cNvGrpSpPr/>
          <p:nvPr/>
        </p:nvGrpSpPr>
        <p:grpSpPr>
          <a:xfrm>
            <a:off x="-1337" y="1045533"/>
            <a:ext cx="12193336" cy="5272869"/>
            <a:chOff x="0" y="1045533"/>
            <a:chExt cx="12193336" cy="527286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26EEED2-11F9-163E-D015-5145B0D59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0341" y="1045533"/>
              <a:ext cx="1431305" cy="131616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71285A6-E933-E114-C224-EB6071EB1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739351"/>
              <a:ext cx="12192000" cy="160421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85A4DBE-F87F-99BD-459F-650A4CC25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4745980"/>
              <a:ext cx="12193336" cy="1572422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48B7885-0598-5BF3-5AFC-F330651972EA}"/>
              </a:ext>
            </a:extLst>
          </p:cNvPr>
          <p:cNvGrpSpPr/>
          <p:nvPr/>
        </p:nvGrpSpPr>
        <p:grpSpPr>
          <a:xfrm>
            <a:off x="-22631" y="974170"/>
            <a:ext cx="12214631" cy="5320606"/>
            <a:chOff x="-22631" y="974170"/>
            <a:chExt cx="12214631" cy="532060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517DD6C-D753-61C7-3E95-84F2B6C53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00488" y="974170"/>
              <a:ext cx="2188335" cy="145889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A242A29-A516-62E3-F697-966922FF6E5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631" y="2764503"/>
              <a:ext cx="12214631" cy="1553905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C2BBA57-B9D0-39E7-84CD-50B78A4A6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631" y="4769606"/>
              <a:ext cx="12192001" cy="1525170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616A1DC-FB69-1A1E-323F-EFEE9FDA59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6067" y="805433"/>
            <a:ext cx="4499853" cy="17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669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B74D8-CC6C-4E23-0AC5-7F9C07553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F5969D7-9E81-1030-4C08-526EBDEFD4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820" t="16131" r="7884" b="18295"/>
          <a:stretch>
            <a:fillRect/>
          </a:stretch>
        </p:blipFill>
        <p:spPr>
          <a:xfrm>
            <a:off x="1" y="6318402"/>
            <a:ext cx="1455173" cy="5395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4EC062-CDF1-797B-778B-0C0BD7E4FB89}"/>
              </a:ext>
            </a:extLst>
          </p:cNvPr>
          <p:cNvSpPr txBox="1"/>
          <p:nvPr/>
        </p:nvSpPr>
        <p:spPr>
          <a:xfrm>
            <a:off x="3739165" y="207077"/>
            <a:ext cx="47136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Activation Maximisation</a:t>
            </a:r>
            <a:endParaRPr kumimoji="0" lang="en-MT" sz="3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F190C9E-F113-CE60-6D34-70F9FB1288B2}"/>
              </a:ext>
            </a:extLst>
          </p:cNvPr>
          <p:cNvGrpSpPr/>
          <p:nvPr/>
        </p:nvGrpSpPr>
        <p:grpSpPr>
          <a:xfrm>
            <a:off x="3936997" y="832366"/>
            <a:ext cx="4318000" cy="122914"/>
            <a:chOff x="3936997" y="832366"/>
            <a:chExt cx="4318000" cy="12291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6BA3015-DA95-C349-F779-953D5C0B3A9B}"/>
                </a:ext>
              </a:extLst>
            </p:cNvPr>
            <p:cNvCxnSpPr>
              <a:cxnSpLocks/>
            </p:cNvCxnSpPr>
            <p:nvPr/>
          </p:nvCxnSpPr>
          <p:spPr>
            <a:xfrm>
              <a:off x="3936997" y="894080"/>
              <a:ext cx="4318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EA29C57-D4FE-5215-7945-D1E3169DDBB2}"/>
                </a:ext>
              </a:extLst>
            </p:cNvPr>
            <p:cNvSpPr/>
            <p:nvPr/>
          </p:nvSpPr>
          <p:spPr>
            <a:xfrm>
              <a:off x="6034538" y="832366"/>
              <a:ext cx="122914" cy="122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T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E46164B-D316-6C61-48A6-86DD751B0D7F}"/>
              </a:ext>
            </a:extLst>
          </p:cNvPr>
          <p:cNvGrpSpPr/>
          <p:nvPr/>
        </p:nvGrpSpPr>
        <p:grpSpPr>
          <a:xfrm>
            <a:off x="6359313" y="1158178"/>
            <a:ext cx="2093522" cy="623711"/>
            <a:chOff x="9439762" y="982213"/>
            <a:chExt cx="2093522" cy="623711"/>
          </a:xfrm>
          <a:solidFill>
            <a:srgbClr val="F8F7F7"/>
          </a:solidFill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1DD98028-4AB3-B624-52CB-740D11B46F06}"/>
                </a:ext>
              </a:extLst>
            </p:cNvPr>
            <p:cNvSpPr/>
            <p:nvPr/>
          </p:nvSpPr>
          <p:spPr>
            <a:xfrm>
              <a:off x="9439762" y="982213"/>
              <a:ext cx="2093522" cy="623711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T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BDC5F70A-FB86-213F-6D04-B8729489D29F}"/>
                    </a:ext>
                  </a:extLst>
                </p:cNvPr>
                <p:cNvSpPr txBox="1"/>
                <p:nvPr/>
              </p:nvSpPr>
              <p:spPr>
                <a:xfrm>
                  <a:off x="9548587" y="1112864"/>
                  <a:ext cx="1922449" cy="362407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arg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lim>
                                </m:limLow>
                              </m:fNam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</m:e>
                        </m:func>
                      </m:oMath>
                    </m:oMathPara>
                  </a14:m>
                  <a:endParaRPr lang="en-MT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BDC5F70A-FB86-213F-6D04-B8729489D2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8587" y="1112864"/>
                  <a:ext cx="1922449" cy="362407"/>
                </a:xfrm>
                <a:prstGeom prst="rect">
                  <a:avLst/>
                </a:prstGeom>
                <a:blipFill>
                  <a:blip r:embed="rId4"/>
                  <a:stretch>
                    <a:fillRect l="-1270" b="-10000"/>
                  </a:stretch>
                </a:blipFill>
              </p:spPr>
              <p:txBody>
                <a:bodyPr/>
                <a:lstStyle/>
                <a:p>
                  <a:r>
                    <a:rPr lang="en-M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9F6887C-69C5-CB83-318C-6930EE30364C}"/>
              </a:ext>
            </a:extLst>
          </p:cNvPr>
          <p:cNvGrpSpPr/>
          <p:nvPr/>
        </p:nvGrpSpPr>
        <p:grpSpPr>
          <a:xfrm>
            <a:off x="6359313" y="1873156"/>
            <a:ext cx="2243363" cy="737866"/>
            <a:chOff x="9364841" y="1794291"/>
            <a:chExt cx="2243363" cy="737866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0150385F-4F34-7AB5-1FB0-9E7F037E594E}"/>
                </a:ext>
              </a:extLst>
            </p:cNvPr>
            <p:cNvSpPr/>
            <p:nvPr/>
          </p:nvSpPr>
          <p:spPr>
            <a:xfrm>
              <a:off x="9364841" y="1794291"/>
              <a:ext cx="2243363" cy="737866"/>
            </a:xfrm>
            <a:prstGeom prst="roundRect">
              <a:avLst/>
            </a:prstGeom>
            <a:solidFill>
              <a:srgbClr val="F8F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T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2630A73E-0B6B-C68F-BA90-4FB73186A5BF}"/>
                    </a:ext>
                  </a:extLst>
                </p:cNvPr>
                <p:cNvSpPr txBox="1"/>
                <p:nvPr/>
              </p:nvSpPr>
              <p:spPr>
                <a:xfrm>
                  <a:off x="9463050" y="1894464"/>
                  <a:ext cx="2093522" cy="537519"/>
                </a:xfrm>
                <a:prstGeom prst="rect">
                  <a:avLst/>
                </a:prstGeom>
                <a:solidFill>
                  <a:srgbClr val="F8F7F7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MT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MT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MT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MT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M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MT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MT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MT" i="1">
                            <a:latin typeface="Cambria Math" panose="02040503050406030204" pitchFamily="18" charset="0"/>
                          </a:rPr>
                          <m:t>𝜂</m:t>
                        </m:r>
                        <m:f>
                          <m:fPr>
                            <m:ctrlPr>
                              <a:rPr lang="en-MT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MT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M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MT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MT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M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MT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r>
                              <a:rPr lang="en-MT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M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oMath>
                    </m:oMathPara>
                  </a14:m>
                  <a:endParaRPr lang="en-MT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2630A73E-0B6B-C68F-BA90-4FB73186A5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3050" y="1894464"/>
                  <a:ext cx="2093522" cy="53751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MT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FCACDDB-A827-FEC8-31D6-2BF9567705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6074" y="805433"/>
            <a:ext cx="4499853" cy="1767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4F250C-2A1D-A117-E561-E0D3800468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749" y="4541086"/>
            <a:ext cx="8076503" cy="169409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2D939C0-52F1-584E-445B-4E690C8E7AF7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6086272" y="1078629"/>
            <a:ext cx="9729" cy="3462457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B74AE48-C5DD-CADD-47A2-92C1358A9C9F}"/>
              </a:ext>
            </a:extLst>
          </p:cNvPr>
          <p:cNvGrpSpPr/>
          <p:nvPr/>
        </p:nvGrpSpPr>
        <p:grpSpPr>
          <a:xfrm>
            <a:off x="1131675" y="1088232"/>
            <a:ext cx="4814922" cy="584776"/>
            <a:chOff x="1131707" y="1187412"/>
            <a:chExt cx="4814922" cy="58477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29C75D-31A9-044F-1F60-C2AEB0F8E130}"/>
                </a:ext>
              </a:extLst>
            </p:cNvPr>
            <p:cNvSpPr txBox="1"/>
            <p:nvPr/>
          </p:nvSpPr>
          <p:spPr>
            <a:xfrm>
              <a:off x="1737900" y="1187413"/>
              <a:ext cx="420872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The Goal </a:t>
              </a:r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is to </a:t>
              </a:r>
              <a:r>
                <a:rPr lang="en-GB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find an input image that maximises the activation of a neuron or filter.</a:t>
              </a:r>
              <a:endParaRPr lang="en-MT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2F66465-7FD6-A8BA-6914-5A0F2072F543}"/>
                </a:ext>
              </a:extLst>
            </p:cNvPr>
            <p:cNvGrpSpPr/>
            <p:nvPr/>
          </p:nvGrpSpPr>
          <p:grpSpPr>
            <a:xfrm>
              <a:off x="1131707" y="1187412"/>
              <a:ext cx="591427" cy="584775"/>
              <a:chOff x="2213569" y="1055138"/>
              <a:chExt cx="637166" cy="630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DBD97C0-3FC1-7AA5-F599-6DA2B6612E7F}"/>
                  </a:ext>
                </a:extLst>
              </p:cNvPr>
              <p:cNvSpPr/>
              <p:nvPr/>
            </p:nvSpPr>
            <p:spPr>
              <a:xfrm>
                <a:off x="2213569" y="1055138"/>
                <a:ext cx="637166" cy="630000"/>
              </a:xfrm>
              <a:prstGeom prst="ellipse">
                <a:avLst/>
              </a:prstGeom>
              <a:solidFill>
                <a:srgbClr val="EEEE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T" dirty="0"/>
              </a:p>
            </p:txBody>
          </p:sp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C46E053-4D61-4ECE-F4E5-662AAE142F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85623" y="1130493"/>
                <a:ext cx="493058" cy="493058"/>
              </a:xfrm>
              <a:prstGeom prst="rect">
                <a:avLst/>
              </a:prstGeom>
            </p:spPr>
          </p:pic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F60FB39-D3C9-1096-FE0F-AF14C4327525}"/>
              </a:ext>
            </a:extLst>
          </p:cNvPr>
          <p:cNvGrpSpPr/>
          <p:nvPr/>
        </p:nvGrpSpPr>
        <p:grpSpPr>
          <a:xfrm>
            <a:off x="1131675" y="1779027"/>
            <a:ext cx="4897101" cy="584775"/>
            <a:chOff x="1131675" y="1973180"/>
            <a:chExt cx="4897101" cy="584775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1F118C4-7CE3-C09F-4118-ECDE03E01ACD}"/>
                </a:ext>
              </a:extLst>
            </p:cNvPr>
            <p:cNvGrpSpPr/>
            <p:nvPr/>
          </p:nvGrpSpPr>
          <p:grpSpPr>
            <a:xfrm>
              <a:off x="1131675" y="1973180"/>
              <a:ext cx="591458" cy="584775"/>
              <a:chOff x="1202557" y="2532725"/>
              <a:chExt cx="637200" cy="6264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6F5C623-84BD-0D0D-A6D7-96078D50EA8E}"/>
                  </a:ext>
                </a:extLst>
              </p:cNvPr>
              <p:cNvSpPr/>
              <p:nvPr/>
            </p:nvSpPr>
            <p:spPr>
              <a:xfrm>
                <a:off x="1202557" y="2532725"/>
                <a:ext cx="637200" cy="626400"/>
              </a:xfrm>
              <a:prstGeom prst="ellipse">
                <a:avLst/>
              </a:prstGeom>
              <a:solidFill>
                <a:srgbClr val="EEEE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T" dirty="0"/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8D770B62-44DC-76D8-B504-779CFDEBD0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20345474">
                <a:off x="1293803" y="2622168"/>
                <a:ext cx="454673" cy="454673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3B7615E-6FF8-2930-E7F4-BBF80387E49B}"/>
                    </a:ext>
                  </a:extLst>
                </p:cNvPr>
                <p:cNvSpPr txBox="1"/>
                <p:nvPr/>
              </p:nvSpPr>
              <p:spPr>
                <a:xfrm>
                  <a:off x="1740738" y="1973180"/>
                  <a:ext cx="4288038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We aim to </a:t>
                  </a:r>
                  <a:r>
                    <a:rPr lang="en-GB" sz="1600" b="1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maximise the activation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en-GB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of a chosen neuron </a:t>
                  </a:r>
                  <a14:m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𝑖</m:t>
                      </m:r>
                    </m:oMath>
                  </a14:m>
                  <a:endParaRPr lang="en-MT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3B7615E-6FF8-2930-E7F4-BBF80387E4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0738" y="1973180"/>
                  <a:ext cx="4288038" cy="584775"/>
                </a:xfrm>
                <a:prstGeom prst="rect">
                  <a:avLst/>
                </a:prstGeom>
                <a:blipFill>
                  <a:blip r:embed="rId10"/>
                  <a:stretch>
                    <a:fillRect l="-853" t="-4167" b="-11458"/>
                  </a:stretch>
                </a:blipFill>
              </p:spPr>
              <p:txBody>
                <a:bodyPr/>
                <a:lstStyle/>
                <a:p>
                  <a:r>
                    <a:rPr lang="en-M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F509D63-2CEA-CD7B-A553-635F77A07F04}"/>
              </a:ext>
            </a:extLst>
          </p:cNvPr>
          <p:cNvGrpSpPr/>
          <p:nvPr/>
        </p:nvGrpSpPr>
        <p:grpSpPr>
          <a:xfrm>
            <a:off x="1131675" y="2473988"/>
            <a:ext cx="4897101" cy="586989"/>
            <a:chOff x="1131675" y="2758947"/>
            <a:chExt cx="4897101" cy="586989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9204465-BA00-4BB6-FE70-49B0B570C0A5}"/>
                </a:ext>
              </a:extLst>
            </p:cNvPr>
            <p:cNvGrpSpPr/>
            <p:nvPr/>
          </p:nvGrpSpPr>
          <p:grpSpPr>
            <a:xfrm>
              <a:off x="1131675" y="2761161"/>
              <a:ext cx="591458" cy="584775"/>
              <a:chOff x="786183" y="2761391"/>
              <a:chExt cx="637200" cy="630000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442FA335-75C7-67E0-645A-FB82717E0F70}"/>
                  </a:ext>
                </a:extLst>
              </p:cNvPr>
              <p:cNvSpPr/>
              <p:nvPr/>
            </p:nvSpPr>
            <p:spPr>
              <a:xfrm>
                <a:off x="786183" y="2761391"/>
                <a:ext cx="637200" cy="630000"/>
              </a:xfrm>
              <a:prstGeom prst="ellipse">
                <a:avLst/>
              </a:prstGeom>
              <a:solidFill>
                <a:srgbClr val="EEEE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T" dirty="0"/>
              </a:p>
            </p:txBody>
          </p:sp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373FDE71-55D2-2CA3-0338-377FF940F1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8235" y="2865686"/>
                <a:ext cx="416638" cy="416638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84736CD-52B1-DCF2-A82A-A4E4A34D4546}"/>
                    </a:ext>
                  </a:extLst>
                </p:cNvPr>
                <p:cNvSpPr txBox="1"/>
                <p:nvPr/>
              </p:nvSpPr>
              <p:spPr>
                <a:xfrm>
                  <a:off x="1740742" y="2758947"/>
                  <a:ext cx="428803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Start of from a </a:t>
                  </a:r>
                  <a:r>
                    <a:rPr lang="en-GB" sz="1600" b="1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random input image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GB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(random noise tensor)</a:t>
                  </a:r>
                  <a:endParaRPr lang="en-MT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84736CD-52B1-DCF2-A82A-A4E4A34D45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0742" y="2758947"/>
                  <a:ext cx="4288034" cy="584775"/>
                </a:xfrm>
                <a:prstGeom prst="rect">
                  <a:avLst/>
                </a:prstGeom>
                <a:blipFill>
                  <a:blip r:embed="rId12"/>
                  <a:stretch>
                    <a:fillRect l="-853" t="-4167" b="-11458"/>
                  </a:stretch>
                </a:blipFill>
              </p:spPr>
              <p:txBody>
                <a:bodyPr/>
                <a:lstStyle/>
                <a:p>
                  <a:r>
                    <a:rPr lang="en-M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1F2E7B7-DA33-56A7-8F10-F44C637B8685}"/>
              </a:ext>
            </a:extLst>
          </p:cNvPr>
          <p:cNvGrpSpPr/>
          <p:nvPr/>
        </p:nvGrpSpPr>
        <p:grpSpPr>
          <a:xfrm>
            <a:off x="1131659" y="3168949"/>
            <a:ext cx="4884775" cy="591098"/>
            <a:chOff x="1131675" y="3540087"/>
            <a:chExt cx="4884775" cy="591098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EED3D55-1639-60C5-92F4-1D996A430A9B}"/>
                </a:ext>
              </a:extLst>
            </p:cNvPr>
            <p:cNvSpPr txBox="1"/>
            <p:nvPr/>
          </p:nvSpPr>
          <p:spPr>
            <a:xfrm>
              <a:off x="1728419" y="3546410"/>
              <a:ext cx="428803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Use </a:t>
              </a:r>
              <a:r>
                <a:rPr lang="en-GB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gradient ascent </a:t>
              </a:r>
              <a:r>
                <a:rPr lang="en-GB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to iteratively update the image</a:t>
              </a:r>
              <a:endParaRPr lang="en-MT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4DB41E88-A1E0-9BE7-0FB3-879E9D414B88}"/>
                </a:ext>
              </a:extLst>
            </p:cNvPr>
            <p:cNvGrpSpPr/>
            <p:nvPr/>
          </p:nvGrpSpPr>
          <p:grpSpPr>
            <a:xfrm>
              <a:off x="1131675" y="3540087"/>
              <a:ext cx="591458" cy="584775"/>
              <a:chOff x="810836" y="3513983"/>
              <a:chExt cx="637200" cy="63000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33C87CAC-D11A-3EFE-98D1-53C30EA74788}"/>
                  </a:ext>
                </a:extLst>
              </p:cNvPr>
              <p:cNvSpPr/>
              <p:nvPr/>
            </p:nvSpPr>
            <p:spPr>
              <a:xfrm>
                <a:off x="810836" y="3513983"/>
                <a:ext cx="637200" cy="630000"/>
              </a:xfrm>
              <a:prstGeom prst="ellipse">
                <a:avLst/>
              </a:prstGeom>
              <a:solidFill>
                <a:srgbClr val="EEEE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T" dirty="0"/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01938112-1761-74BD-7698-B92D76EE70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22905" y="3622451"/>
                <a:ext cx="413062" cy="413062"/>
              </a:xfrm>
              <a:prstGeom prst="rect">
                <a:avLst/>
              </a:prstGeom>
            </p:spPr>
          </p:pic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F710515-77F2-AB18-ED82-73AE3B6CEB16}"/>
              </a:ext>
            </a:extLst>
          </p:cNvPr>
          <p:cNvGrpSpPr/>
          <p:nvPr/>
        </p:nvGrpSpPr>
        <p:grpSpPr>
          <a:xfrm>
            <a:off x="1131659" y="3866000"/>
            <a:ext cx="4884775" cy="591098"/>
            <a:chOff x="1131659" y="3866000"/>
            <a:chExt cx="4884775" cy="591098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0F0AAD8-6EB0-AFF9-CD34-750045D496D6}"/>
                </a:ext>
              </a:extLst>
            </p:cNvPr>
            <p:cNvSpPr txBox="1"/>
            <p:nvPr/>
          </p:nvSpPr>
          <p:spPr>
            <a:xfrm>
              <a:off x="1728403" y="3872323"/>
              <a:ext cx="428803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The final image </a:t>
              </a:r>
              <a:r>
                <a:rPr lang="en-GB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reveals the patterns </a:t>
              </a:r>
              <a:r>
                <a:rPr lang="en-GB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that excite the neuron the most</a:t>
              </a:r>
              <a:endParaRPr lang="en-MT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945A7F1B-9A06-D31D-6472-8FA558D0A737}"/>
                </a:ext>
              </a:extLst>
            </p:cNvPr>
            <p:cNvGrpSpPr/>
            <p:nvPr/>
          </p:nvGrpSpPr>
          <p:grpSpPr>
            <a:xfrm>
              <a:off x="1131659" y="3866000"/>
              <a:ext cx="591458" cy="584775"/>
              <a:chOff x="1131659" y="3866000"/>
              <a:chExt cx="591458" cy="584775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ADCBC1FB-1F3E-B919-B1B2-1211D3CBC182}"/>
                  </a:ext>
                </a:extLst>
              </p:cNvPr>
              <p:cNvSpPr/>
              <p:nvPr/>
            </p:nvSpPr>
            <p:spPr>
              <a:xfrm>
                <a:off x="1131659" y="3866000"/>
                <a:ext cx="591458" cy="584775"/>
              </a:xfrm>
              <a:prstGeom prst="ellipse">
                <a:avLst/>
              </a:prstGeom>
              <a:solidFill>
                <a:srgbClr val="EEEE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T" dirty="0"/>
              </a:p>
            </p:txBody>
          </p:sp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F01B540D-AA71-4B27-19B5-C4AD6027FC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21053" y="3948119"/>
                <a:ext cx="420536" cy="420536"/>
              </a:xfrm>
              <a:prstGeom prst="rect">
                <a:avLst/>
              </a:prstGeom>
            </p:spPr>
          </p:pic>
        </p:grpSp>
      </p:grp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5D3A425-10B8-844B-DEE0-F509D3274948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8452835" y="1470034"/>
            <a:ext cx="660685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E9BDF25-D9AF-994D-BF26-CD0D62DEC85B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8602676" y="2242089"/>
            <a:ext cx="73182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A768622-F40C-098D-331F-FDE281763244}"/>
                  </a:ext>
                </a:extLst>
              </p:cNvPr>
              <p:cNvSpPr txBox="1"/>
              <p:nvPr/>
            </p:nvSpPr>
            <p:spPr>
              <a:xfrm>
                <a:off x="9188055" y="1180460"/>
                <a:ext cx="224336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Optimal images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𝑥</m:t>
                    </m:r>
                  </m:oMath>
                </a14:m>
                <a:r>
                  <a:rPr lang="en-GB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that excite neuron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𝑖</m:t>
                    </m:r>
                  </m:oMath>
                </a14:m>
                <a:endParaRPr lang="en-MT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A768622-F40C-098D-331F-FDE281763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55" y="1180460"/>
                <a:ext cx="2243361" cy="584775"/>
              </a:xfrm>
              <a:prstGeom prst="rect">
                <a:avLst/>
              </a:prstGeom>
              <a:blipFill>
                <a:blip r:embed="rId15"/>
                <a:stretch>
                  <a:fillRect l="-1359" t="-4167" r="-1087" b="-11458"/>
                </a:stretch>
              </a:blipFill>
            </p:spPr>
            <p:txBody>
              <a:bodyPr/>
              <a:lstStyle/>
              <a:p>
                <a:r>
                  <a:rPr lang="en-M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73CA4C85-FE3E-110D-7F0F-8B0C5D5BBC40}"/>
              </a:ext>
            </a:extLst>
          </p:cNvPr>
          <p:cNvSpPr txBox="1"/>
          <p:nvPr/>
        </p:nvSpPr>
        <p:spPr>
          <a:xfrm>
            <a:off x="9386132" y="1949700"/>
            <a:ext cx="2243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Update rule using gradient ascent</a:t>
            </a:r>
            <a:endParaRPr lang="en-MT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DBFBE323-6DE2-B348-7DE8-489518C6EF9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53480" y="2657181"/>
            <a:ext cx="4259391" cy="188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00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370A8-8610-09FD-AA71-657946CAB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25A08F4-D81C-0AD9-5D37-E2FFFFA417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820" t="16131" r="7884" b="18295"/>
          <a:stretch>
            <a:fillRect/>
          </a:stretch>
        </p:blipFill>
        <p:spPr>
          <a:xfrm>
            <a:off x="1" y="6318402"/>
            <a:ext cx="1455173" cy="53959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39AAAE80-B8BC-CDAB-1B2A-AA4652BE781F}"/>
              </a:ext>
            </a:extLst>
          </p:cNvPr>
          <p:cNvGrpSpPr/>
          <p:nvPr/>
        </p:nvGrpSpPr>
        <p:grpSpPr>
          <a:xfrm>
            <a:off x="990595" y="1088285"/>
            <a:ext cx="10210800" cy="4791075"/>
            <a:chOff x="990600" y="1033462"/>
            <a:chExt cx="10210800" cy="479107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3B81087-1657-41B7-5540-300ABA892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0600" y="1033462"/>
              <a:ext cx="10210800" cy="4791075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90DB7D3-D766-5065-A7EE-42DC69D2EABE}"/>
                </a:ext>
              </a:extLst>
            </p:cNvPr>
            <p:cNvSpPr/>
            <p:nvPr/>
          </p:nvSpPr>
          <p:spPr>
            <a:xfrm>
              <a:off x="990600" y="1033462"/>
              <a:ext cx="3186545" cy="14603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T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C8222BA-D1B4-943A-26F1-E8870468DF1F}"/>
                </a:ext>
              </a:extLst>
            </p:cNvPr>
            <p:cNvSpPr/>
            <p:nvPr/>
          </p:nvSpPr>
          <p:spPr>
            <a:xfrm>
              <a:off x="6096000" y="4374573"/>
              <a:ext cx="4980709" cy="14027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T" b="1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646BE2B-C49D-C0AD-84C3-2442439E01A9}"/>
              </a:ext>
            </a:extLst>
          </p:cNvPr>
          <p:cNvSpPr txBox="1"/>
          <p:nvPr/>
        </p:nvSpPr>
        <p:spPr>
          <a:xfrm>
            <a:off x="3627297" y="207077"/>
            <a:ext cx="49374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Gradient Ascent in Action</a:t>
            </a:r>
            <a:endParaRPr kumimoji="0" lang="en-MT" sz="3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6901CD-404D-7BE3-2E48-03DCCFEAD4C8}"/>
              </a:ext>
            </a:extLst>
          </p:cNvPr>
          <p:cNvGrpSpPr/>
          <p:nvPr/>
        </p:nvGrpSpPr>
        <p:grpSpPr>
          <a:xfrm>
            <a:off x="3936997" y="832366"/>
            <a:ext cx="4318000" cy="122914"/>
            <a:chOff x="3936997" y="832366"/>
            <a:chExt cx="4318000" cy="12291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D432576-9CA1-D6F9-8738-8ACE8220BC27}"/>
                </a:ext>
              </a:extLst>
            </p:cNvPr>
            <p:cNvCxnSpPr>
              <a:cxnSpLocks/>
            </p:cNvCxnSpPr>
            <p:nvPr/>
          </p:nvCxnSpPr>
          <p:spPr>
            <a:xfrm>
              <a:off x="3936997" y="894080"/>
              <a:ext cx="4318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5395FE6-217E-C17F-28E5-EDC779D7B8E6}"/>
                </a:ext>
              </a:extLst>
            </p:cNvPr>
            <p:cNvSpPr/>
            <p:nvPr/>
          </p:nvSpPr>
          <p:spPr>
            <a:xfrm>
              <a:off x="6034538" y="832366"/>
              <a:ext cx="122914" cy="122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T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F8BBB210-2D1B-DE70-6D03-C76FF467F5F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6067" y="805433"/>
            <a:ext cx="4499853" cy="17678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B529F8C-6E35-6409-65EF-A0CC13AC4179}"/>
              </a:ext>
            </a:extLst>
          </p:cNvPr>
          <p:cNvGrpSpPr/>
          <p:nvPr/>
        </p:nvGrpSpPr>
        <p:grpSpPr>
          <a:xfrm>
            <a:off x="1201725" y="1214741"/>
            <a:ext cx="2764283" cy="1207443"/>
            <a:chOff x="1870947" y="1333669"/>
            <a:chExt cx="2764283" cy="120744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EB8F3C6-32BC-15CC-4D27-2A67595CD55D}"/>
                </a:ext>
              </a:extLst>
            </p:cNvPr>
            <p:cNvSpPr/>
            <p:nvPr/>
          </p:nvSpPr>
          <p:spPr>
            <a:xfrm>
              <a:off x="1870947" y="1333669"/>
              <a:ext cx="2764283" cy="1207443"/>
            </a:xfrm>
            <a:prstGeom prst="roundRect">
              <a:avLst>
                <a:gd name="adj" fmla="val 7584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T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2FE4654-0F75-1DF1-6015-4394C5E72361}"/>
                    </a:ext>
                  </a:extLst>
                </p:cNvPr>
                <p:cNvSpPr txBox="1"/>
                <p:nvPr/>
              </p:nvSpPr>
              <p:spPr>
                <a:xfrm>
                  <a:off x="2041182" y="1475726"/>
                  <a:ext cx="2423814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Activation:</a:t>
                  </a:r>
                  <a:r>
                    <a:rPr lang="en-GB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GB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= 2</a:t>
                  </a:r>
                </a:p>
                <a:p>
                  <a:r>
                    <a:rPr lang="en-GB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Gradient:</a:t>
                  </a:r>
                  <a14:m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 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a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x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  </m:t>
                          </m:r>
                        </m:den>
                      </m:f>
                    </m:oMath>
                  </a14:m>
                  <a:r>
                    <a:rPr lang="en-GB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= 2</a:t>
                  </a:r>
                </a:p>
                <a:p>
                  <a:r>
                    <a:rPr lang="en-GB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Step Size: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𝜂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</m:oMath>
                  </a14:m>
                  <a:r>
                    <a:rPr lang="en-GB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= 0.1</a:t>
                  </a:r>
                  <a:endParaRPr lang="en-MT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2FE4654-0F75-1DF1-6015-4394C5E723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1182" y="1475726"/>
                  <a:ext cx="2423814" cy="923330"/>
                </a:xfrm>
                <a:prstGeom prst="rect">
                  <a:avLst/>
                </a:prstGeom>
                <a:blipFill>
                  <a:blip r:embed="rId6"/>
                  <a:stretch>
                    <a:fillRect l="-2010" t="-15894" b="-42384"/>
                  </a:stretch>
                </a:blipFill>
              </p:spPr>
              <p:txBody>
                <a:bodyPr/>
                <a:lstStyle/>
                <a:p>
                  <a:r>
                    <a:rPr lang="en-M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00D5357-3530-495A-07CA-A8B42C2C68B4}"/>
              </a:ext>
            </a:extLst>
          </p:cNvPr>
          <p:cNvGrpSpPr/>
          <p:nvPr/>
        </p:nvGrpSpPr>
        <p:grpSpPr>
          <a:xfrm>
            <a:off x="7198468" y="4527060"/>
            <a:ext cx="4002927" cy="1207443"/>
            <a:chOff x="7198468" y="4527060"/>
            <a:chExt cx="4002927" cy="1207443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29D9B0B9-94D9-CF68-C7E4-BE557932E0EB}"/>
                </a:ext>
              </a:extLst>
            </p:cNvPr>
            <p:cNvSpPr/>
            <p:nvPr/>
          </p:nvSpPr>
          <p:spPr>
            <a:xfrm>
              <a:off x="7198468" y="4527060"/>
              <a:ext cx="4002927" cy="1207443"/>
            </a:xfrm>
            <a:prstGeom prst="roundRect">
              <a:avLst>
                <a:gd name="adj" fmla="val 7584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T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B5A1128-5EDA-672A-206C-57779BA5AACD}"/>
                </a:ext>
              </a:extLst>
            </p:cNvPr>
            <p:cNvSpPr txBox="1"/>
            <p:nvPr/>
          </p:nvSpPr>
          <p:spPr>
            <a:xfrm>
              <a:off x="7385725" y="4669116"/>
              <a:ext cx="362841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Because the gradient is positive, every iterative step pushes the input higher.</a:t>
              </a:r>
              <a:endParaRPr lang="en-MT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274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D615F-77A4-F0CE-8C73-9BD1A1FA9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E9CDBA6-AD75-A4CC-5D35-D4D39ECA3F7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820" t="16131" r="7884" b="18295"/>
          <a:stretch>
            <a:fillRect/>
          </a:stretch>
        </p:blipFill>
        <p:spPr>
          <a:xfrm>
            <a:off x="1" y="6318402"/>
            <a:ext cx="1455173" cy="5395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FAEC06-0D44-1A1C-7899-802F4E1175FD}"/>
              </a:ext>
            </a:extLst>
          </p:cNvPr>
          <p:cNvSpPr txBox="1"/>
          <p:nvPr/>
        </p:nvSpPr>
        <p:spPr>
          <a:xfrm>
            <a:off x="3937001" y="207077"/>
            <a:ext cx="43179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Regularisation Effects</a:t>
            </a:r>
            <a:endParaRPr kumimoji="0" lang="en-MT" sz="3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6D8CF2F-3669-2E72-81AF-9E12A4245458}"/>
              </a:ext>
            </a:extLst>
          </p:cNvPr>
          <p:cNvGrpSpPr/>
          <p:nvPr/>
        </p:nvGrpSpPr>
        <p:grpSpPr>
          <a:xfrm>
            <a:off x="3936997" y="832366"/>
            <a:ext cx="4318000" cy="122914"/>
            <a:chOff x="3936997" y="832366"/>
            <a:chExt cx="4318000" cy="12291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1930401-BFA5-51F9-7621-5BD0C04909B4}"/>
                </a:ext>
              </a:extLst>
            </p:cNvPr>
            <p:cNvCxnSpPr>
              <a:cxnSpLocks/>
            </p:cNvCxnSpPr>
            <p:nvPr/>
          </p:nvCxnSpPr>
          <p:spPr>
            <a:xfrm>
              <a:off x="3936997" y="894080"/>
              <a:ext cx="4318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6D5B2AD-0BEF-2979-F050-81ECF51EFE1C}"/>
                </a:ext>
              </a:extLst>
            </p:cNvPr>
            <p:cNvSpPr/>
            <p:nvPr/>
          </p:nvSpPr>
          <p:spPr>
            <a:xfrm>
              <a:off x="6034538" y="832366"/>
              <a:ext cx="122914" cy="122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T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6698ACCB-1D47-1960-D43E-CE30CDA92F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6067" y="805433"/>
            <a:ext cx="4499853" cy="176780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950624EF-F1E5-7519-3B87-66717149B6EB}"/>
              </a:ext>
            </a:extLst>
          </p:cNvPr>
          <p:cNvGrpSpPr/>
          <p:nvPr/>
        </p:nvGrpSpPr>
        <p:grpSpPr>
          <a:xfrm>
            <a:off x="841611" y="1105872"/>
            <a:ext cx="9655012" cy="1776482"/>
            <a:chOff x="824012" y="1126887"/>
            <a:chExt cx="9655012" cy="1776482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4885168-D5FD-0D52-4C32-1CCE4A84B98E}"/>
                </a:ext>
              </a:extLst>
            </p:cNvPr>
            <p:cNvGrpSpPr/>
            <p:nvPr/>
          </p:nvGrpSpPr>
          <p:grpSpPr>
            <a:xfrm>
              <a:off x="824012" y="1126887"/>
              <a:ext cx="6473250" cy="1776482"/>
              <a:chOff x="929394" y="4249152"/>
              <a:chExt cx="6473250" cy="1776482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B3339A43-22B2-3819-F645-D3FB9128DE58}"/>
                  </a:ext>
                </a:extLst>
              </p:cNvPr>
              <p:cNvGrpSpPr/>
              <p:nvPr/>
            </p:nvGrpSpPr>
            <p:grpSpPr>
              <a:xfrm>
                <a:off x="929394" y="4249152"/>
                <a:ext cx="6473250" cy="1776482"/>
                <a:chOff x="822714" y="1126648"/>
                <a:chExt cx="6473250" cy="1776482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9AA7A66D-F5D4-0D0C-4D5A-25BC0E23A69D}"/>
                    </a:ext>
                  </a:extLst>
                </p:cNvPr>
                <p:cNvGrpSpPr/>
                <p:nvPr/>
              </p:nvGrpSpPr>
              <p:grpSpPr>
                <a:xfrm>
                  <a:off x="822714" y="1126648"/>
                  <a:ext cx="6473250" cy="1776482"/>
                  <a:chOff x="817880" y="1126648"/>
                  <a:chExt cx="6473250" cy="1776482"/>
                </a:xfrm>
              </p:grpSpPr>
              <p:sp>
                <p:nvSpPr>
                  <p:cNvPr id="19" name="Rectangle: Rounded Corners 18">
                    <a:extLst>
                      <a:ext uri="{FF2B5EF4-FFF2-40B4-BE49-F238E27FC236}">
                        <a16:creationId xmlns:a16="http://schemas.microsoft.com/office/drawing/2014/main" id="{FC69473A-9409-9BFB-04AF-1C8297671B61}"/>
                      </a:ext>
                    </a:extLst>
                  </p:cNvPr>
                  <p:cNvSpPr/>
                  <p:nvPr/>
                </p:nvSpPr>
                <p:spPr>
                  <a:xfrm>
                    <a:off x="817880" y="1126648"/>
                    <a:ext cx="6263419" cy="1776482"/>
                  </a:xfrm>
                  <a:prstGeom prst="roundRect">
                    <a:avLst>
                      <a:gd name="adj" fmla="val 6944"/>
                    </a:avLst>
                  </a:prstGeom>
                  <a:solidFill>
                    <a:srgbClr val="F8F7F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T" dirty="0"/>
                  </a:p>
                </p:txBody>
              </p: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3CE3A5B3-A35B-F931-CD61-441FA79AC8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287184" y="1285893"/>
                    <a:ext cx="3946" cy="1404213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6"/>
                  </a:lnRef>
                  <a:fillRef idx="0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B9ADFE53-E4C0-9721-28B8-49266BA3160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24602" y="1333397"/>
                      <a:ext cx="4842929" cy="86440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25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5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5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GB" sz="25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GB" sz="25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GB" sz="25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5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5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GB" sz="25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2500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5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25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  <m:d>
                              <m:dPr>
                                <m:ctrlPr>
                                  <a:rPr lang="en-GB" sz="25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MT" sz="2500" i="1" smtClean="0">
                                        <a:solidFill>
                                          <a:srgbClr val="0044B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MT" sz="2500" b="0" i="1">
                                        <a:solidFill>
                                          <a:srgbClr val="0044B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MT" sz="2500" i="1">
                                            <a:solidFill>
                                              <a:srgbClr val="0044B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MT" sz="2500" b="0" i="1">
                                            <a:solidFill>
                                              <a:srgbClr val="0044B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MT" sz="2500" b="0" i="1">
                                            <a:solidFill>
                                              <a:srgbClr val="0044B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MT" sz="2500" i="1">
                                            <a:solidFill>
                                              <a:srgbClr val="0044B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MT" sz="2500" b="0" i="1">
                                            <a:solidFill>
                                              <a:srgbClr val="0044B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MT" sz="2500" b="0" i="1">
                                        <a:solidFill>
                                          <a:srgbClr val="0044B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MT" sz="2500" b="0" i="1">
                                        <a:solidFill>
                                          <a:srgbClr val="0044B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en-GB" sz="2500" b="0" i="1" smtClean="0">
                                    <a:solidFill>
                                      <a:srgbClr val="BE010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500" b="0" i="1" smtClean="0">
                                    <a:solidFill>
                                      <a:srgbClr val="BE010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  <m:f>
                                  <m:fPr>
                                    <m:ctrlPr>
                                      <a:rPr lang="en-MT" sz="2500" i="1">
                                        <a:solidFill>
                                          <a:srgbClr val="BE010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MT" sz="2500" b="0" i="1">
                                        <a:solidFill>
                                          <a:srgbClr val="BE010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GB" sz="2500" b="0" i="1">
                                        <a:solidFill>
                                          <a:srgbClr val="BE010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d>
                                      <m:dPr>
                                        <m:ctrlPr>
                                          <a:rPr lang="en-MT" sz="2500" i="1">
                                            <a:solidFill>
                                              <a:srgbClr val="BE0104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MT" sz="2500" b="0" i="1">
                                            <a:solidFill>
                                              <a:srgbClr val="BE0104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MT" sz="2500" b="0" i="1">
                                        <a:solidFill>
                                          <a:srgbClr val="BE010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MT" sz="2500" b="0" i="1">
                                        <a:solidFill>
                                          <a:srgbClr val="BE010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oMath>
                        </m:oMathPara>
                      </a14:m>
                      <a:endParaRPr lang="en-MT" sz="2500" dirty="0">
                        <a:latin typeface="Aptos" panose="020B00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B9ADFE53-E4C0-9721-28B8-49266BA3160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24602" y="1333397"/>
                      <a:ext cx="4842929" cy="864404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MT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647933D5-8F2B-E5FE-F53C-E56F45C009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68340" y="5333755"/>
                <a:ext cx="2670971" cy="281964"/>
              </a:xfrm>
              <a:prstGeom prst="rect">
                <a:avLst/>
              </a:prstGeom>
            </p:spPr>
          </p:pic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B9781AB-0A81-C671-CBD6-EE99996F96A7}"/>
                  </a:ext>
                </a:extLst>
              </p:cNvPr>
              <p:cNvSpPr txBox="1"/>
              <p:nvPr/>
            </p:nvSpPr>
            <p:spPr>
              <a:xfrm>
                <a:off x="3325824" y="5607835"/>
                <a:ext cx="15750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dirty="0">
                    <a:solidFill>
                      <a:srgbClr val="0044BF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Increases Activation</a:t>
                </a:r>
                <a:endParaRPr lang="en-MT" sz="1200" dirty="0">
                  <a:solidFill>
                    <a:srgbClr val="0044B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8182CB9-34F8-771A-2B29-F4952571BFE1}"/>
                  </a:ext>
                </a:extLst>
              </p:cNvPr>
              <p:cNvSpPr txBox="1"/>
              <p:nvPr/>
            </p:nvSpPr>
            <p:spPr>
              <a:xfrm>
                <a:off x="4900883" y="5615719"/>
                <a:ext cx="196814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dirty="0">
                    <a:solidFill>
                      <a:srgbClr val="BE0104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Regularisation (penalty)</a:t>
                </a:r>
                <a:endParaRPr lang="en-MT" sz="1200" dirty="0">
                  <a:solidFill>
                    <a:srgbClr val="BE0104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032C4D7-F126-FE04-A0DF-96FDC8CC3255}"/>
                </a:ext>
              </a:extLst>
            </p:cNvPr>
            <p:cNvGrpSpPr/>
            <p:nvPr/>
          </p:nvGrpSpPr>
          <p:grpSpPr>
            <a:xfrm>
              <a:off x="7589314" y="1234605"/>
              <a:ext cx="2889710" cy="1504265"/>
              <a:chOff x="7595410" y="4508431"/>
              <a:chExt cx="2889710" cy="150426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8EFC235F-C37E-8DBD-9091-1EFFFB366C61}"/>
                      </a:ext>
                    </a:extLst>
                  </p:cNvPr>
                  <p:cNvSpPr txBox="1"/>
                  <p:nvPr/>
                </p:nvSpPr>
                <p:spPr>
                  <a:xfrm>
                    <a:off x="7609446" y="4539210"/>
                    <a:ext cx="165109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oMath>
                      </m:oMathPara>
                    </a14:m>
                    <a:endParaRPr lang="en-MT" sz="1600" b="1" dirty="0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8EFC235F-C37E-8DBD-9091-1EFFFB366C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09446" y="4539210"/>
                    <a:ext cx="165109" cy="24622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4815" r="-18519"/>
                    </a:stretch>
                  </a:blipFill>
                </p:spPr>
                <p:txBody>
                  <a:bodyPr/>
                  <a:lstStyle/>
                  <a:p>
                    <a:r>
                      <a:rPr lang="en-M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64E058D5-08FE-915E-B30D-F5CC08E0B65C}"/>
                      </a:ext>
                    </a:extLst>
                  </p:cNvPr>
                  <p:cNvSpPr txBox="1"/>
                  <p:nvPr/>
                </p:nvSpPr>
                <p:spPr>
                  <a:xfrm>
                    <a:off x="7595410" y="4838932"/>
                    <a:ext cx="528286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oMath>
                      </m:oMathPara>
                    </a14:m>
                    <a:endParaRPr lang="en-MT" sz="1600" b="1" dirty="0"/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64E058D5-08FE-915E-B30D-F5CC08E0B6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95410" y="4838932"/>
                    <a:ext cx="528286" cy="24622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5747" b="-14634"/>
                    </a:stretch>
                  </a:blipFill>
                </p:spPr>
                <p:txBody>
                  <a:bodyPr/>
                  <a:lstStyle/>
                  <a:p>
                    <a:r>
                      <a:rPr lang="en-M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1EB9E63B-6183-0A13-573F-BD51124237B0}"/>
                      </a:ext>
                    </a:extLst>
                  </p:cNvPr>
                  <p:cNvSpPr txBox="1"/>
                  <p:nvPr/>
                </p:nvSpPr>
                <p:spPr>
                  <a:xfrm>
                    <a:off x="7602592" y="5131034"/>
                    <a:ext cx="169918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MT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𝜼</m:t>
                          </m:r>
                        </m:oMath>
                      </m:oMathPara>
                    </a14:m>
                    <a:endParaRPr lang="en-MT" sz="1600" b="1" dirty="0"/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1EB9E63B-6183-0A13-573F-BD51124237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02592" y="5131034"/>
                    <a:ext cx="169918" cy="24622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8571" r="-28571" b="-21951"/>
                    </a:stretch>
                  </a:blipFill>
                </p:spPr>
                <p:txBody>
                  <a:bodyPr/>
                  <a:lstStyle/>
                  <a:p>
                    <a:r>
                      <a:rPr lang="en-M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EDDDE948-D6F9-7CA7-3D0F-BE765CB99529}"/>
                      </a:ext>
                    </a:extLst>
                  </p:cNvPr>
                  <p:cNvSpPr txBox="1"/>
                  <p:nvPr/>
                </p:nvSpPr>
                <p:spPr>
                  <a:xfrm>
                    <a:off x="7602592" y="5438661"/>
                    <a:ext cx="478080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oMath>
                      </m:oMathPara>
                    </a14:m>
                    <a:endParaRPr lang="en-MT" sz="1600" b="1" dirty="0"/>
                  </a:p>
                </p:txBody>
              </p:sp>
            </mc:Choice>
            <mc:Fallback xmlns="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EDDDE948-D6F9-7CA7-3D0F-BE765CB995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02592" y="5438661"/>
                    <a:ext cx="478080" cy="24622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8974" b="-5000"/>
                    </a:stretch>
                  </a:blipFill>
                </p:spPr>
                <p:txBody>
                  <a:bodyPr/>
                  <a:lstStyle/>
                  <a:p>
                    <a:r>
                      <a:rPr lang="en-M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52108762-78DA-0258-9959-36B0957AB986}"/>
                      </a:ext>
                    </a:extLst>
                  </p:cNvPr>
                  <p:cNvSpPr txBox="1"/>
                  <p:nvPr/>
                </p:nvSpPr>
                <p:spPr>
                  <a:xfrm>
                    <a:off x="7595410" y="5735696"/>
                    <a:ext cx="177100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oMath>
                      </m:oMathPara>
                    </a14:m>
                    <a:endParaRPr lang="en-MT" sz="1600" b="1" dirty="0"/>
                  </a:p>
                </p:txBody>
              </p:sp>
            </mc:Choice>
            <mc:Fallback xmlns="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52108762-78DA-0258-9959-36B0957AB9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95410" y="5735696"/>
                    <a:ext cx="177100" cy="24622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4138" r="-24138" b="-7500"/>
                    </a:stretch>
                  </a:blipFill>
                </p:spPr>
                <p:txBody>
                  <a:bodyPr/>
                  <a:lstStyle/>
                  <a:p>
                    <a:r>
                      <a:rPr lang="en-M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3906EF4-4963-12F7-C8E7-3D7318B79F7C}"/>
                  </a:ext>
                </a:extLst>
              </p:cNvPr>
              <p:cNvSpPr txBox="1"/>
              <p:nvPr/>
            </p:nvSpPr>
            <p:spPr>
              <a:xfrm>
                <a:off x="8298045" y="4508431"/>
                <a:ext cx="20015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: input image</a:t>
                </a:r>
                <a:endParaRPr lang="en-MT" sz="1400" dirty="0"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7C2EAB39-B2F3-3BD7-932A-A2B37746561F}"/>
                      </a:ext>
                    </a:extLst>
                  </p:cNvPr>
                  <p:cNvSpPr txBox="1"/>
                  <p:nvPr/>
                </p:nvSpPr>
                <p:spPr>
                  <a:xfrm>
                    <a:off x="8298045" y="4807553"/>
                    <a:ext cx="218707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rPr>
                      <a:t>: activation of neuron </a:t>
                    </a:r>
                    <a14:m>
                      <m:oMath xmlns:m="http://schemas.openxmlformats.org/officeDocument/2006/math"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𝑖</m:t>
                        </m:r>
                      </m:oMath>
                    </a14:m>
                    <a:endParaRPr lang="en-MT" sz="1400" dirty="0">
                      <a:latin typeface="Segoe UI Semibold" panose="020B0702040204020203" pitchFamily="34" charset="0"/>
                      <a:cs typeface="Segoe UI Semibold" panose="020B0702040204020203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7C2EAB39-B2F3-3BD7-932A-A2B3774656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98045" y="4807553"/>
                    <a:ext cx="2187075" cy="30777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836" t="-3922" b="-17647"/>
                    </a:stretch>
                  </a:blipFill>
                </p:spPr>
                <p:txBody>
                  <a:bodyPr/>
                  <a:lstStyle/>
                  <a:p>
                    <a:r>
                      <a:rPr lang="en-M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7FF1B86-6028-720D-4C79-A38F7F78052A}"/>
                  </a:ext>
                </a:extLst>
              </p:cNvPr>
              <p:cNvSpPr txBox="1"/>
              <p:nvPr/>
            </p:nvSpPr>
            <p:spPr>
              <a:xfrm>
                <a:off x="8298045" y="5106675"/>
                <a:ext cx="21870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: step size (learning rate)</a:t>
                </a:r>
                <a:endParaRPr lang="en-MT" sz="1400" dirty="0"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8888D42-BDB3-4D7E-2299-857CDBDB6DB8}"/>
                  </a:ext>
                </a:extLst>
              </p:cNvPr>
              <p:cNvSpPr txBox="1"/>
              <p:nvPr/>
            </p:nvSpPr>
            <p:spPr>
              <a:xfrm>
                <a:off x="8298044" y="5405797"/>
                <a:ext cx="21870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: regularisation function</a:t>
                </a:r>
                <a:endParaRPr lang="en-MT" sz="1400" dirty="0"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26ECBB6-F480-D6CB-BA04-371E928C5329}"/>
                  </a:ext>
                </a:extLst>
              </p:cNvPr>
              <p:cNvSpPr txBox="1"/>
              <p:nvPr/>
            </p:nvSpPr>
            <p:spPr>
              <a:xfrm>
                <a:off x="8298043" y="5704919"/>
                <a:ext cx="21870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: regularisation strength</a:t>
                </a:r>
                <a:endParaRPr lang="en-MT" sz="1400" dirty="0"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7B6FA3B-BC6B-25B5-D1BA-A8F91F96852F}"/>
              </a:ext>
            </a:extLst>
          </p:cNvPr>
          <p:cNvGrpSpPr/>
          <p:nvPr/>
        </p:nvGrpSpPr>
        <p:grpSpPr>
          <a:xfrm>
            <a:off x="841611" y="2999131"/>
            <a:ext cx="5133656" cy="1207443"/>
            <a:chOff x="800216" y="3673907"/>
            <a:chExt cx="5133656" cy="12074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82302A65-514E-8D05-67B0-906927E53ED2}"/>
                    </a:ext>
                  </a:extLst>
                </p:cNvPr>
                <p:cNvSpPr/>
                <p:nvPr/>
              </p:nvSpPr>
              <p:spPr>
                <a:xfrm>
                  <a:off x="800216" y="3673907"/>
                  <a:ext cx="5133656" cy="1207443"/>
                </a:xfrm>
                <a:prstGeom prst="roundRect">
                  <a:avLst>
                    <a:gd name="adj" fmla="val 7584"/>
                  </a:avLst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905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a:fld id="{825F15A7-03F4-43D7-82C5-3E23DA2F108C}" type="mathplaceholder">
                          <a:rPr lang="en-MT" i="1" smtClean="0">
                            <a:latin typeface="Cambria Math" panose="02040503050406030204" pitchFamily="18" charset="0"/>
                          </a:rPr>
                          <a:t>Type equation here.</a:t>
                        </a:fld>
                      </m:oMath>
                    </m:oMathPara>
                  </a14:m>
                  <a:endParaRPr lang="en-MT" dirty="0"/>
                </a:p>
              </p:txBody>
            </p:sp>
          </mc:Choice>
          <mc:Fallback xmlns=""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82302A65-514E-8D05-67B0-906927E53E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216" y="3673907"/>
                  <a:ext cx="5133656" cy="1207443"/>
                </a:xfrm>
                <a:prstGeom prst="roundRect">
                  <a:avLst>
                    <a:gd name="adj" fmla="val 7584"/>
                  </a:avLst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>
                  <a:outerShdw blurRad="1905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MT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5422E1F0-89BC-D6C1-DC60-4D1F87519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5881" t="13541" r="3765" b="8630"/>
            <a:stretch>
              <a:fillRect/>
            </a:stretch>
          </p:blipFill>
          <p:spPr>
            <a:xfrm>
              <a:off x="919908" y="3824626"/>
              <a:ext cx="900000" cy="90600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F2F76E7-F0AF-5C52-6FE4-935D1909E878}"/>
                    </a:ext>
                  </a:extLst>
                </p:cNvPr>
                <p:cNvSpPr txBox="1"/>
                <p:nvPr/>
              </p:nvSpPr>
              <p:spPr>
                <a:xfrm>
                  <a:off x="1934048" y="3771734"/>
                  <a:ext cx="2133538" cy="4582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500" dirty="0">
                      <a:solidFill>
                        <a:srgbClr val="0044BF"/>
                      </a:solidFill>
                      <a:latin typeface="Segoe UI Bold" panose="020B0802040204020203" pitchFamily="34" charset="0"/>
                      <a:cs typeface="Segoe UI Bold" panose="020B0802040204020203" pitchFamily="34" charset="0"/>
                    </a:rPr>
                    <a:t>Activation Term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1500" i="1" smtClean="0">
                              <a:solidFill>
                                <a:srgbClr val="0044BF"/>
                              </a:solidFill>
                              <a:latin typeface="Cambria Math" panose="02040503050406030204" pitchFamily="18" charset="0"/>
                              <a:cs typeface="Segoe UI Bold" panose="020B0802040204020203" pitchFamily="34" charset="0"/>
                            </a:rPr>
                          </m:ctrlPr>
                        </m:fPr>
                        <m:num>
                          <m:r>
                            <a:rPr lang="en-GB" sz="1500" i="1" smtClean="0">
                              <a:solidFill>
                                <a:srgbClr val="0044B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Bold" panose="020B0802040204020203" pitchFamily="3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rgbClr val="0044B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solidFill>
                                    <a:srgbClr val="0044B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600" i="1">
                                  <a:solidFill>
                                    <a:srgbClr val="0044B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1600" i="1">
                                  <a:solidFill>
                                    <a:srgbClr val="0044B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solidFill>
                                    <a:srgbClr val="0044B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GB" sz="1500" i="1" smtClean="0">
                              <a:solidFill>
                                <a:srgbClr val="0044B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Bold" panose="020B0802040204020203" pitchFamily="34" charset="0"/>
                            </a:rPr>
                            <m:t>𝜕</m:t>
                          </m:r>
                          <m:r>
                            <a:rPr lang="en-GB" sz="1600" i="1">
                              <a:solidFill>
                                <a:srgbClr val="0044B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a14:m>
                  <a:r>
                    <a:rPr lang="en-GB" sz="1500" dirty="0">
                      <a:solidFill>
                        <a:srgbClr val="0044BF"/>
                      </a:solidFill>
                      <a:latin typeface="Segoe UI Bold" panose="020B0802040204020203" pitchFamily="34" charset="0"/>
                      <a:cs typeface="Segoe UI Bold" panose="020B0802040204020203" pitchFamily="34" charset="0"/>
                    </a:rPr>
                    <a:t> </a:t>
                  </a:r>
                  <a:endParaRPr lang="en-MT" sz="1500" dirty="0">
                    <a:solidFill>
                      <a:srgbClr val="0044BF"/>
                    </a:solidFill>
                    <a:latin typeface="Segoe UI Bold" panose="020B0802040204020203" pitchFamily="34" charset="0"/>
                    <a:cs typeface="Segoe UI Bold" panose="020B0802040204020203" pitchFamily="34" charset="0"/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F2F76E7-F0AF-5C52-6FE4-935D1909E8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4048" y="3771734"/>
                  <a:ext cx="2133538" cy="458202"/>
                </a:xfrm>
                <a:prstGeom prst="rect">
                  <a:avLst/>
                </a:prstGeom>
                <a:blipFill>
                  <a:blip r:embed="rId15"/>
                  <a:stretch>
                    <a:fillRect l="-1143"/>
                  </a:stretch>
                </a:blipFill>
              </p:spPr>
              <p:txBody>
                <a:bodyPr/>
                <a:lstStyle/>
                <a:p>
                  <a:r>
                    <a:rPr lang="en-M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20265ACD-021A-699E-217C-B3582CFEDBCE}"/>
                    </a:ext>
                  </a:extLst>
                </p:cNvPr>
                <p:cNvSpPr txBox="1"/>
                <p:nvPr/>
              </p:nvSpPr>
              <p:spPr>
                <a:xfrm>
                  <a:off x="1934048" y="4183179"/>
                  <a:ext cx="3462528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500" b="1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Pushes</a:t>
                  </a:r>
                  <a:r>
                    <a:rPr lang="en-GB" sz="15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the image in the direction that </a:t>
                  </a:r>
                  <a:r>
                    <a:rPr lang="en-GB" sz="1500" b="1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increases</a:t>
                  </a:r>
                  <a:r>
                    <a:rPr lang="en-GB" sz="15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the activation of neuron </a:t>
                  </a:r>
                  <a14:m>
                    <m:oMath xmlns:m="http://schemas.openxmlformats.org/officeDocument/2006/math"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en-GB" sz="15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.</a:t>
                  </a:r>
                  <a:endParaRPr lang="en-MT" sz="15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20265ACD-021A-699E-217C-B3582CFEDB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4048" y="4183179"/>
                  <a:ext cx="3462528" cy="553998"/>
                </a:xfrm>
                <a:prstGeom prst="rect">
                  <a:avLst/>
                </a:prstGeom>
                <a:blipFill>
                  <a:blip r:embed="rId16"/>
                  <a:stretch>
                    <a:fillRect l="-704" t="-3297" r="-704" b="-10989"/>
                  </a:stretch>
                </a:blipFill>
              </p:spPr>
              <p:txBody>
                <a:bodyPr/>
                <a:lstStyle/>
                <a:p>
                  <a:r>
                    <a:rPr lang="en-M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2F2F279-FAD2-410A-4616-68E48D678952}"/>
              </a:ext>
            </a:extLst>
          </p:cNvPr>
          <p:cNvGrpSpPr/>
          <p:nvPr/>
        </p:nvGrpSpPr>
        <p:grpSpPr>
          <a:xfrm>
            <a:off x="6137388" y="2999130"/>
            <a:ext cx="5213000" cy="1207443"/>
            <a:chOff x="6095993" y="3673906"/>
            <a:chExt cx="5213000" cy="1207443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E344AA40-3EA6-16AB-13F6-F0BD88BB9D20}"/>
                </a:ext>
              </a:extLst>
            </p:cNvPr>
            <p:cNvSpPr/>
            <p:nvPr/>
          </p:nvSpPr>
          <p:spPr>
            <a:xfrm>
              <a:off x="6095993" y="3673906"/>
              <a:ext cx="5213000" cy="1207443"/>
            </a:xfrm>
            <a:prstGeom prst="roundRect">
              <a:avLst>
                <a:gd name="adj" fmla="val 7584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T" dirty="0"/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9AD6FBA4-1186-4973-D37D-4FF961F02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l="2509" t="7536" r="1875" b="5392"/>
            <a:stretch>
              <a:fillRect/>
            </a:stretch>
          </p:blipFill>
          <p:spPr>
            <a:xfrm>
              <a:off x="6210133" y="3824626"/>
              <a:ext cx="898477" cy="90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47FDBC7-3F93-9D87-209A-6A2AA6509512}"/>
                    </a:ext>
                  </a:extLst>
                </p:cNvPr>
                <p:cNvSpPr txBox="1"/>
                <p:nvPr/>
              </p:nvSpPr>
              <p:spPr>
                <a:xfrm>
                  <a:off x="7222750" y="3770708"/>
                  <a:ext cx="2787012" cy="4592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500" dirty="0">
                      <a:solidFill>
                        <a:srgbClr val="C00000"/>
                      </a:solidFill>
                      <a:latin typeface="Segoe UI Bold" panose="020B0802040204020203" pitchFamily="34" charset="0"/>
                      <a:cs typeface="Segoe UI Bold" panose="020B0802040204020203" pitchFamily="34" charset="0"/>
                    </a:rPr>
                    <a:t>Regularisaiton Term </a:t>
                  </a:r>
                  <a14:m>
                    <m:oMath xmlns:m="http://schemas.openxmlformats.org/officeDocument/2006/math">
                      <m:r>
                        <a:rPr lang="en-GB" sz="1600" i="1">
                          <a:solidFill>
                            <a:srgbClr val="BE010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1600" i="1">
                          <a:solidFill>
                            <a:srgbClr val="BE010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f>
                        <m:fPr>
                          <m:ctrlPr>
                            <a:rPr lang="en-MT" sz="1600" i="1">
                              <a:solidFill>
                                <a:srgbClr val="BE010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MT" sz="1600" i="1">
                              <a:solidFill>
                                <a:srgbClr val="BE0104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sz="1600" i="1">
                              <a:solidFill>
                                <a:srgbClr val="BE0104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MT" sz="1600" i="1">
                                  <a:solidFill>
                                    <a:srgbClr val="BE010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T" sz="1600" i="1">
                                  <a:solidFill>
                                    <a:srgbClr val="BE0104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MT" sz="1600" i="1">
                              <a:solidFill>
                                <a:srgbClr val="BE0104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MT" sz="1600" i="1">
                              <a:solidFill>
                                <a:srgbClr val="BE010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a14:m>
                  <a:endParaRPr lang="en-MT" sz="1500" dirty="0">
                    <a:solidFill>
                      <a:srgbClr val="0044BF"/>
                    </a:solidFill>
                    <a:latin typeface="Segoe UI Bold" panose="020B0802040204020203" pitchFamily="34" charset="0"/>
                    <a:cs typeface="Segoe UI Bold" panose="020B0802040204020203" pitchFamily="34" charset="0"/>
                  </a:endParaRPr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47FDBC7-3F93-9D87-209A-6A2AA65095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2750" y="3770708"/>
                  <a:ext cx="2787012" cy="459228"/>
                </a:xfrm>
                <a:prstGeom prst="rect">
                  <a:avLst/>
                </a:prstGeom>
                <a:blipFill>
                  <a:blip r:embed="rId18"/>
                  <a:stretch>
                    <a:fillRect l="-875" b="-2667"/>
                  </a:stretch>
                </a:blipFill>
              </p:spPr>
              <p:txBody>
                <a:bodyPr/>
                <a:lstStyle/>
                <a:p>
                  <a:r>
                    <a:rPr lang="en-M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66DF4A9-CEB2-045C-8BC4-60E67C7E569A}"/>
                </a:ext>
              </a:extLst>
            </p:cNvPr>
            <p:cNvSpPr txBox="1"/>
            <p:nvPr/>
          </p:nvSpPr>
          <p:spPr>
            <a:xfrm>
              <a:off x="7222750" y="4183179"/>
              <a:ext cx="395579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5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Penalises </a:t>
              </a:r>
              <a:r>
                <a:rPr lang="en-GB" sz="1500" dirty="0">
                  <a:latin typeface="Segoe UI" panose="020B0502040204020203" pitchFamily="34" charset="0"/>
                  <a:cs typeface="Segoe UI" panose="020B0502040204020203" pitchFamily="34" charset="0"/>
                </a:rPr>
                <a:t>undesirable properties (e.g. noise), encouraging natural-looking images.</a:t>
              </a:r>
              <a:endParaRPr lang="en-MT" sz="15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F5DC5F5-6E98-3DA0-CFA6-B92C8EFDCD28}"/>
              </a:ext>
            </a:extLst>
          </p:cNvPr>
          <p:cNvGrpSpPr/>
          <p:nvPr/>
        </p:nvGrpSpPr>
        <p:grpSpPr>
          <a:xfrm>
            <a:off x="841611" y="4302296"/>
            <a:ext cx="3118481" cy="1892685"/>
            <a:chOff x="841611" y="4281544"/>
            <a:chExt cx="3118481" cy="18926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Rectangle: Rounded Corners 114">
                  <a:extLst>
                    <a:ext uri="{FF2B5EF4-FFF2-40B4-BE49-F238E27FC236}">
                      <a16:creationId xmlns:a16="http://schemas.microsoft.com/office/drawing/2014/main" id="{6833BB76-78D7-3568-2521-3726D6083AB0}"/>
                    </a:ext>
                  </a:extLst>
                </p:cNvPr>
                <p:cNvSpPr/>
                <p:nvPr/>
              </p:nvSpPr>
              <p:spPr>
                <a:xfrm>
                  <a:off x="841611" y="4281544"/>
                  <a:ext cx="3118481" cy="1892685"/>
                </a:xfrm>
                <a:prstGeom prst="roundRect">
                  <a:avLst>
                    <a:gd name="adj" fmla="val 7584"/>
                  </a:avLst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905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a:fld id="{825F15A7-03F4-43D7-82C5-3E23DA2F108C}" type="mathplaceholder">
                          <a:rPr lang="en-MT" i="1" smtClean="0">
                            <a:latin typeface="Cambria Math" panose="02040503050406030204" pitchFamily="18" charset="0"/>
                          </a:rPr>
                          <a:t>Type equation here.</a:t>
                        </a:fld>
                      </m:oMath>
                    </m:oMathPara>
                  </a14:m>
                  <a:endParaRPr lang="en-MT" dirty="0"/>
                </a:p>
              </p:txBody>
            </p:sp>
          </mc:Choice>
          <mc:Fallback xmlns="">
            <p:sp>
              <p:nvSpPr>
                <p:cNvPr id="115" name="Rectangle: Rounded Corners 114">
                  <a:extLst>
                    <a:ext uri="{FF2B5EF4-FFF2-40B4-BE49-F238E27FC236}">
                      <a16:creationId xmlns:a16="http://schemas.microsoft.com/office/drawing/2014/main" id="{6833BB76-78D7-3568-2521-3726D6083A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611" y="4281544"/>
                  <a:ext cx="3118481" cy="1892685"/>
                </a:xfrm>
                <a:prstGeom prst="roundRect">
                  <a:avLst>
                    <a:gd name="adj" fmla="val 7584"/>
                  </a:avLst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  <a:effectLst>
                  <a:outerShdw blurRad="1905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MT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9396488E-5DB3-9153-C23F-B3C640E8C271}"/>
                </a:ext>
              </a:extLst>
            </p:cNvPr>
            <p:cNvGrpSpPr/>
            <p:nvPr/>
          </p:nvGrpSpPr>
          <p:grpSpPr>
            <a:xfrm>
              <a:off x="1101623" y="4696680"/>
              <a:ext cx="2488062" cy="481657"/>
              <a:chOff x="1010788" y="4648372"/>
              <a:chExt cx="2488062" cy="481657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8D9D6A5B-1D9F-8A19-3506-4781946F1518}"/>
                  </a:ext>
                </a:extLst>
              </p:cNvPr>
              <p:cNvGrpSpPr/>
              <p:nvPr/>
            </p:nvGrpSpPr>
            <p:grpSpPr>
              <a:xfrm>
                <a:off x="1010788" y="4738523"/>
                <a:ext cx="306254" cy="307777"/>
                <a:chOff x="955636" y="4682450"/>
                <a:chExt cx="423282" cy="418521"/>
              </a:xfrm>
            </p:grpSpPr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DCB92C7B-98B4-0158-CA29-A580C657ACE5}"/>
                    </a:ext>
                  </a:extLst>
                </p:cNvPr>
                <p:cNvSpPr/>
                <p:nvPr/>
              </p:nvSpPr>
              <p:spPr>
                <a:xfrm>
                  <a:off x="955636" y="4682450"/>
                  <a:ext cx="423282" cy="418521"/>
                </a:xfrm>
                <a:prstGeom prst="ellipse">
                  <a:avLst/>
                </a:prstGeom>
                <a:solidFill>
                  <a:srgbClr val="EEEEE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T" dirty="0"/>
                </a:p>
              </p:txBody>
            </p:sp>
            <p:pic>
              <p:nvPicPr>
                <p:cNvPr id="95" name="Picture 94">
                  <a:extLst>
                    <a:ext uri="{FF2B5EF4-FFF2-40B4-BE49-F238E27FC236}">
                      <a16:creationId xmlns:a16="http://schemas.microsoft.com/office/drawing/2014/main" id="{1B7AA154-26B8-0AB0-0CDA-114A26B4FF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25286" y="4749719"/>
                  <a:ext cx="283982" cy="283982"/>
                </a:xfrm>
                <a:prstGeom prst="rect">
                  <a:avLst/>
                </a:prstGeom>
              </p:spPr>
            </p:pic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B9A34F3C-930E-8822-920D-D1273FAF1E32}"/>
                  </a:ext>
                </a:extLst>
              </p:cNvPr>
              <p:cNvGrpSpPr/>
              <p:nvPr/>
            </p:nvGrpSpPr>
            <p:grpSpPr>
              <a:xfrm>
                <a:off x="1317041" y="4648372"/>
                <a:ext cx="2181809" cy="481657"/>
                <a:chOff x="1510081" y="4497569"/>
                <a:chExt cx="2181809" cy="481657"/>
              </a:xfrm>
            </p:grpSpPr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D71FBCE-36F6-FB65-0C18-B0185C4A4411}"/>
                    </a:ext>
                  </a:extLst>
                </p:cNvPr>
                <p:cNvSpPr txBox="1"/>
                <p:nvPr/>
              </p:nvSpPr>
              <p:spPr>
                <a:xfrm>
                  <a:off x="1510081" y="4497569"/>
                  <a:ext cx="187319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Total Variation (TV)</a:t>
                  </a:r>
                  <a:endParaRPr lang="en-MT" sz="1400" dirty="0">
                    <a:latin typeface="Segoe UI Semibold" panose="020B0702040204020203" pitchFamily="34" charset="0"/>
                    <a:cs typeface="Segoe UI Semibold" panose="020B0702040204020203" pitchFamily="34" charset="0"/>
                  </a:endParaRP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3A9489F6-5C68-1B6C-33A2-C10C496C70FB}"/>
                    </a:ext>
                  </a:extLst>
                </p:cNvPr>
                <p:cNvSpPr txBox="1"/>
                <p:nvPr/>
              </p:nvSpPr>
              <p:spPr>
                <a:xfrm>
                  <a:off x="1510081" y="4702227"/>
                  <a:ext cx="218180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reduces high-frequency noise</a:t>
                  </a:r>
                  <a:endParaRPr lang="en-MT" sz="12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15D6D521-6B06-71E1-184D-8C06E48E9985}"/>
                </a:ext>
              </a:extLst>
            </p:cNvPr>
            <p:cNvGrpSpPr/>
            <p:nvPr/>
          </p:nvGrpSpPr>
          <p:grpSpPr>
            <a:xfrm>
              <a:off x="1068463" y="5103071"/>
              <a:ext cx="2767938" cy="481657"/>
              <a:chOff x="976019" y="5124354"/>
              <a:chExt cx="2767938" cy="481657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E57EF696-A23C-0713-6E25-3ED7B10FD4A5}"/>
                  </a:ext>
                </a:extLst>
              </p:cNvPr>
              <p:cNvGrpSpPr/>
              <p:nvPr/>
            </p:nvGrpSpPr>
            <p:grpSpPr>
              <a:xfrm>
                <a:off x="1317041" y="5124354"/>
                <a:ext cx="2426916" cy="481657"/>
                <a:chOff x="1510081" y="4497569"/>
                <a:chExt cx="2426916" cy="481657"/>
              </a:xfrm>
            </p:grpSpPr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ABFB8695-5AEC-DCF2-72D4-AB4E7FB44973}"/>
                    </a:ext>
                  </a:extLst>
                </p:cNvPr>
                <p:cNvSpPr txBox="1"/>
                <p:nvPr/>
              </p:nvSpPr>
              <p:spPr>
                <a:xfrm>
                  <a:off x="1510081" y="4497569"/>
                  <a:ext cx="187319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L2 Norm</a:t>
                  </a:r>
                  <a:endParaRPr lang="en-MT" sz="1400" dirty="0">
                    <a:latin typeface="Segoe UI Semibold" panose="020B0702040204020203" pitchFamily="34" charset="0"/>
                    <a:cs typeface="Segoe UI Semibold" panose="020B0702040204020203" pitchFamily="34" charset="0"/>
                  </a:endParaRP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CEA61B5F-9533-EAD6-E261-92339A591893}"/>
                    </a:ext>
                  </a:extLst>
                </p:cNvPr>
                <p:cNvSpPr txBox="1"/>
                <p:nvPr/>
              </p:nvSpPr>
              <p:spPr>
                <a:xfrm>
                  <a:off x="1510081" y="4702227"/>
                  <a:ext cx="242691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Discourages extreme pixel values</a:t>
                  </a:r>
                  <a:endParaRPr lang="en-MT" sz="12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B0BED518-F6D8-550F-F84F-CA3C53F55451}"/>
                  </a:ext>
                </a:extLst>
              </p:cNvPr>
              <p:cNvGrpSpPr/>
              <p:nvPr/>
            </p:nvGrpSpPr>
            <p:grpSpPr>
              <a:xfrm>
                <a:off x="976019" y="5220567"/>
                <a:ext cx="382095" cy="309600"/>
                <a:chOff x="917169" y="5183365"/>
                <a:chExt cx="516392" cy="418521"/>
              </a:xfrm>
            </p:grpSpPr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6408A696-9889-3C11-C3E8-C1D2E258AE40}"/>
                    </a:ext>
                  </a:extLst>
                </p:cNvPr>
                <p:cNvSpPr/>
                <p:nvPr/>
              </p:nvSpPr>
              <p:spPr>
                <a:xfrm>
                  <a:off x="955636" y="5183365"/>
                  <a:ext cx="423282" cy="418521"/>
                </a:xfrm>
                <a:prstGeom prst="ellipse">
                  <a:avLst/>
                </a:prstGeom>
                <a:solidFill>
                  <a:srgbClr val="EEEEE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T" dirty="0"/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DD099BFB-BBE6-9A0C-6204-D89FF8EC9953}"/>
                    </a:ext>
                  </a:extLst>
                </p:cNvPr>
                <p:cNvSpPr txBox="1"/>
                <p:nvPr/>
              </p:nvSpPr>
              <p:spPr>
                <a:xfrm>
                  <a:off x="917169" y="5184597"/>
                  <a:ext cx="516392" cy="4160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dirty="0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L2</a:t>
                  </a:r>
                  <a:endParaRPr lang="en-MT" sz="1400" dirty="0">
                    <a:latin typeface="Segoe UI Semibold" panose="020B0702040204020203" pitchFamily="34" charset="0"/>
                    <a:cs typeface="Segoe UI Semibold" panose="020B0702040204020203" pitchFamily="34" charset="0"/>
                  </a:endParaRPr>
                </a:p>
              </p:txBody>
            </p:sp>
          </p:grp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A7312C94-AAA8-B070-818A-34730C964D34}"/>
                </a:ext>
              </a:extLst>
            </p:cNvPr>
            <p:cNvGrpSpPr/>
            <p:nvPr/>
          </p:nvGrpSpPr>
          <p:grpSpPr>
            <a:xfrm>
              <a:off x="1096926" y="5525923"/>
              <a:ext cx="2739475" cy="481657"/>
              <a:chOff x="1004482" y="5665988"/>
              <a:chExt cx="2739475" cy="481657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D53D485D-250C-68CB-EF07-A5FEC6D8F6FF}"/>
                  </a:ext>
                </a:extLst>
              </p:cNvPr>
              <p:cNvGrpSpPr/>
              <p:nvPr/>
            </p:nvGrpSpPr>
            <p:grpSpPr>
              <a:xfrm>
                <a:off x="1317041" y="5665988"/>
                <a:ext cx="2426916" cy="481657"/>
                <a:chOff x="1510081" y="4497569"/>
                <a:chExt cx="2426916" cy="481657"/>
              </a:xfrm>
            </p:grpSpPr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7FDC6279-9977-13B0-948C-DD27AE08A182}"/>
                    </a:ext>
                  </a:extLst>
                </p:cNvPr>
                <p:cNvSpPr txBox="1"/>
                <p:nvPr/>
              </p:nvSpPr>
              <p:spPr>
                <a:xfrm>
                  <a:off x="1510081" y="4497569"/>
                  <a:ext cx="187319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Gaussian Blur</a:t>
                  </a:r>
                  <a:endParaRPr lang="en-MT" sz="1400" dirty="0">
                    <a:latin typeface="Segoe UI Semibold" panose="020B0702040204020203" pitchFamily="34" charset="0"/>
                    <a:cs typeface="Segoe UI Semibold" panose="020B0702040204020203" pitchFamily="34" charset="0"/>
                  </a:endParaRP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BCC4A75C-F62F-3CCE-3ECF-064B13099DDA}"/>
                    </a:ext>
                  </a:extLst>
                </p:cNvPr>
                <p:cNvSpPr txBox="1"/>
                <p:nvPr/>
              </p:nvSpPr>
              <p:spPr>
                <a:xfrm>
                  <a:off x="1510081" y="4702227"/>
                  <a:ext cx="242691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Suppresses high-frequency noise</a:t>
                  </a:r>
                  <a:endParaRPr lang="en-MT" sz="12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C458BEB1-C4FF-FF64-18B7-95B870B39121}"/>
                  </a:ext>
                </a:extLst>
              </p:cNvPr>
              <p:cNvGrpSpPr/>
              <p:nvPr/>
            </p:nvGrpSpPr>
            <p:grpSpPr>
              <a:xfrm>
                <a:off x="1004482" y="5752337"/>
                <a:ext cx="313200" cy="309677"/>
                <a:chOff x="955636" y="5691376"/>
                <a:chExt cx="423282" cy="418521"/>
              </a:xfrm>
            </p:grpSpPr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7025C066-8288-D1BC-849B-393B60E9F060}"/>
                    </a:ext>
                  </a:extLst>
                </p:cNvPr>
                <p:cNvSpPr/>
                <p:nvPr/>
              </p:nvSpPr>
              <p:spPr>
                <a:xfrm>
                  <a:off x="955636" y="5691376"/>
                  <a:ext cx="423282" cy="418521"/>
                </a:xfrm>
                <a:prstGeom prst="ellipse">
                  <a:avLst/>
                </a:prstGeom>
                <a:solidFill>
                  <a:srgbClr val="EEEEE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T" dirty="0"/>
                </a:p>
              </p:txBody>
            </p:sp>
            <p:pic>
              <p:nvPicPr>
                <p:cNvPr id="110" name="Picture 109">
                  <a:extLst>
                    <a:ext uri="{FF2B5EF4-FFF2-40B4-BE49-F238E27FC236}">
                      <a16:creationId xmlns:a16="http://schemas.microsoft.com/office/drawing/2014/main" id="{A9B6CFD5-BFE0-0F3C-5833-321F1DAA27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24868" y="5757952"/>
                  <a:ext cx="284400" cy="284400"/>
                </a:xfrm>
                <a:prstGeom prst="rect">
                  <a:avLst/>
                </a:prstGeom>
              </p:spPr>
            </p:pic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988668F4-50EA-E1B8-22D2-FA9AAE8EA790}"/>
                    </a:ext>
                  </a:extLst>
                </p:cNvPr>
                <p:cNvSpPr txBox="1"/>
                <p:nvPr/>
              </p:nvSpPr>
              <p:spPr>
                <a:xfrm>
                  <a:off x="961303" y="4372443"/>
                  <a:ext cx="269025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600" dirty="0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Common Regularisers</a:t>
                  </a:r>
                  <a:r>
                    <a:rPr lang="en-GB" sz="1600" dirty="0">
                      <a:solidFill>
                        <a:srgbClr val="BE0104"/>
                      </a:solidFill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d>
                        <m:dPr>
                          <m:ctrlPr>
                            <a:rPr lang="en-MT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T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a14:m>
                  <a:endParaRPr lang="en-MT" sz="1600" b="1" dirty="0">
                    <a:latin typeface="Segoe UI Semibold" panose="020B0702040204020203" pitchFamily="34" charset="0"/>
                    <a:cs typeface="Segoe UI Semibold" panose="020B07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988668F4-50EA-E1B8-22D2-FA9AAE8EA7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303" y="4372443"/>
                  <a:ext cx="2690259" cy="338554"/>
                </a:xfrm>
                <a:prstGeom prst="rect">
                  <a:avLst/>
                </a:prstGeom>
                <a:blipFill>
                  <a:blip r:embed="rId22"/>
                  <a:stretch>
                    <a:fillRect l="-1361" t="-7273" b="-21818"/>
                  </a:stretch>
                </a:blipFill>
              </p:spPr>
              <p:txBody>
                <a:bodyPr/>
                <a:lstStyle/>
                <a:p>
                  <a:r>
                    <a:rPr lang="en-MT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Rectangle: Rounded Corners 142">
                <a:extLst>
                  <a:ext uri="{FF2B5EF4-FFF2-40B4-BE49-F238E27FC236}">
                    <a16:creationId xmlns:a16="http://schemas.microsoft.com/office/drawing/2014/main" id="{EAF80A6C-D67C-FAD5-1A34-157C5EB35A88}"/>
                  </a:ext>
                </a:extLst>
              </p:cNvPr>
              <p:cNvSpPr/>
              <p:nvPr/>
            </p:nvSpPr>
            <p:spPr>
              <a:xfrm>
                <a:off x="4079784" y="4315005"/>
                <a:ext cx="7270604" cy="1879975"/>
              </a:xfrm>
              <a:prstGeom prst="roundRect">
                <a:avLst>
                  <a:gd name="adj" fmla="val 7584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905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MT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MT" dirty="0"/>
              </a:p>
            </p:txBody>
          </p:sp>
        </mc:Choice>
        <mc:Fallback xmlns="">
          <p:sp>
            <p:nvSpPr>
              <p:cNvPr id="143" name="Rectangle: Rounded Corners 142">
                <a:extLst>
                  <a:ext uri="{FF2B5EF4-FFF2-40B4-BE49-F238E27FC236}">
                    <a16:creationId xmlns:a16="http://schemas.microsoft.com/office/drawing/2014/main" id="{EAF80A6C-D67C-FAD5-1A34-157C5EB35A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784" y="4315005"/>
                <a:ext cx="7270604" cy="1879975"/>
              </a:xfrm>
              <a:prstGeom prst="roundRect">
                <a:avLst>
                  <a:gd name="adj" fmla="val 7584"/>
                </a:avLst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  <a:effectLst>
                <a:outerShdw blurRad="1905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M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5" name="Picture 144">
            <a:extLst>
              <a:ext uri="{FF2B5EF4-FFF2-40B4-BE49-F238E27FC236}">
                <a16:creationId xmlns:a16="http://schemas.microsoft.com/office/drawing/2014/main" id="{F6C31824-2717-74B9-97CE-1D7F0B64D0E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20454" y="4463297"/>
            <a:ext cx="6789263" cy="162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305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12FDB-8F4F-3D2D-335C-7F4A1B5EF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0EB1841-A302-B84D-F4D5-F11DF80D538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820" t="16131" r="7884" b="18295"/>
          <a:stretch>
            <a:fillRect/>
          </a:stretch>
        </p:blipFill>
        <p:spPr>
          <a:xfrm>
            <a:off x="1" y="6318402"/>
            <a:ext cx="1455173" cy="5395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7EDA93-833B-4686-DB3B-91F5CB6004A2}"/>
              </a:ext>
            </a:extLst>
          </p:cNvPr>
          <p:cNvSpPr txBox="1"/>
          <p:nvPr/>
        </p:nvSpPr>
        <p:spPr>
          <a:xfrm>
            <a:off x="3370905" y="207077"/>
            <a:ext cx="54501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DeepDream Amplification</a:t>
            </a:r>
            <a:endParaRPr kumimoji="0" lang="en-MT" sz="3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1BEF1E7-ADC7-224C-96B9-1BE8A3B1CC3B}"/>
              </a:ext>
            </a:extLst>
          </p:cNvPr>
          <p:cNvGrpSpPr/>
          <p:nvPr/>
        </p:nvGrpSpPr>
        <p:grpSpPr>
          <a:xfrm>
            <a:off x="3936997" y="832366"/>
            <a:ext cx="4318000" cy="122914"/>
            <a:chOff x="3936997" y="832366"/>
            <a:chExt cx="4318000" cy="12291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C066188-59A6-464B-10D9-868F3351EE6D}"/>
                </a:ext>
              </a:extLst>
            </p:cNvPr>
            <p:cNvCxnSpPr>
              <a:cxnSpLocks/>
            </p:cNvCxnSpPr>
            <p:nvPr/>
          </p:nvCxnSpPr>
          <p:spPr>
            <a:xfrm>
              <a:off x="3936997" y="894080"/>
              <a:ext cx="4318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54AD18B-1096-48F8-891B-958C96A8B69F}"/>
                </a:ext>
              </a:extLst>
            </p:cNvPr>
            <p:cNvSpPr/>
            <p:nvPr/>
          </p:nvSpPr>
          <p:spPr>
            <a:xfrm>
              <a:off x="6034538" y="832366"/>
              <a:ext cx="122914" cy="122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T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C37B7259-AAE0-67A0-8303-61892F4C02F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6067" y="805433"/>
            <a:ext cx="4499853" cy="176780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17F562E1-5A64-1223-B463-CAC0EFBECC73}"/>
              </a:ext>
            </a:extLst>
          </p:cNvPr>
          <p:cNvGrpSpPr/>
          <p:nvPr/>
        </p:nvGrpSpPr>
        <p:grpSpPr>
          <a:xfrm>
            <a:off x="785244" y="1124496"/>
            <a:ext cx="5171321" cy="4855270"/>
            <a:chOff x="291544" y="1197297"/>
            <a:chExt cx="5171321" cy="485527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8AB6A30-D1B3-3AE5-4AAA-B53011F1812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5977" y="1653412"/>
              <a:ext cx="2084400" cy="20844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D722CE9-5B36-6494-E806-78882AE2B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89420" y="1653412"/>
              <a:ext cx="2084400" cy="2084400"/>
            </a:xfrm>
            <a:prstGeom prst="rect">
              <a:avLst/>
            </a:prstGeom>
          </p:spPr>
        </p:pic>
        <p:pic>
          <p:nvPicPr>
            <p:cNvPr id="1026" name="Picture 2" descr="Method A output">
              <a:extLst>
                <a:ext uri="{FF2B5EF4-FFF2-40B4-BE49-F238E27FC236}">
                  <a16:creationId xmlns:a16="http://schemas.microsoft.com/office/drawing/2014/main" id="{3D16666B-235F-C925-CFA8-C17DF85110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9420" y="3968167"/>
              <a:ext cx="2084400" cy="208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Black Cat">
              <a:extLst>
                <a:ext uri="{FF2B5EF4-FFF2-40B4-BE49-F238E27FC236}">
                  <a16:creationId xmlns:a16="http://schemas.microsoft.com/office/drawing/2014/main" id="{0E71FD67-55E4-45C8-4740-BDC50CA845BE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977" y="3968167"/>
              <a:ext cx="2084400" cy="208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17572EE-C971-300D-34C5-D7265A2CB0F5}"/>
                </a:ext>
              </a:extLst>
            </p:cNvPr>
            <p:cNvCxnSpPr>
              <a:stCxn id="14" idx="3"/>
              <a:endCxn id="16" idx="1"/>
            </p:cNvCxnSpPr>
            <p:nvPr/>
          </p:nvCxnSpPr>
          <p:spPr>
            <a:xfrm>
              <a:off x="2410377" y="2695612"/>
              <a:ext cx="679043" cy="0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2C4DFE4-3DCF-1041-FB0F-8D9971CC8991}"/>
                </a:ext>
              </a:extLst>
            </p:cNvPr>
            <p:cNvCxnSpPr>
              <a:cxnSpLocks/>
              <a:stCxn id="1028" idx="3"/>
              <a:endCxn id="1026" idx="1"/>
            </p:cNvCxnSpPr>
            <p:nvPr/>
          </p:nvCxnSpPr>
          <p:spPr>
            <a:xfrm>
              <a:off x="2410377" y="5010367"/>
              <a:ext cx="679043" cy="0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F5B0125-D8D0-10A3-A2AB-FC8A3CAAE828}"/>
                </a:ext>
              </a:extLst>
            </p:cNvPr>
            <p:cNvSpPr txBox="1"/>
            <p:nvPr/>
          </p:nvSpPr>
          <p:spPr>
            <a:xfrm>
              <a:off x="291544" y="1205262"/>
              <a:ext cx="21532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Original Images</a:t>
              </a:r>
              <a:endParaRPr lang="en-MT" sz="2000" dirty="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41BF16-3362-3CBD-0E0F-59F7E7EC1058}"/>
                </a:ext>
              </a:extLst>
            </p:cNvPr>
            <p:cNvSpPr txBox="1"/>
            <p:nvPr/>
          </p:nvSpPr>
          <p:spPr>
            <a:xfrm>
              <a:off x="2800375" y="1197297"/>
              <a:ext cx="26624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DeepDream Output</a:t>
              </a:r>
              <a:endParaRPr lang="en-MT" sz="2000" dirty="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A7EEB8B-19C7-FB56-4617-C9822D0D2BE9}"/>
              </a:ext>
            </a:extLst>
          </p:cNvPr>
          <p:cNvGrpSpPr/>
          <p:nvPr/>
        </p:nvGrpSpPr>
        <p:grpSpPr>
          <a:xfrm>
            <a:off x="6375317" y="1132461"/>
            <a:ext cx="5558718" cy="1377372"/>
            <a:chOff x="6307305" y="1205262"/>
            <a:chExt cx="5558718" cy="1377372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3E29B04C-01FF-376D-5864-7DBA35C9FF3F}"/>
                </a:ext>
              </a:extLst>
            </p:cNvPr>
            <p:cNvSpPr/>
            <p:nvPr/>
          </p:nvSpPr>
          <p:spPr>
            <a:xfrm>
              <a:off x="6307305" y="1205262"/>
              <a:ext cx="5558718" cy="1377372"/>
            </a:xfrm>
            <a:prstGeom prst="roundRect">
              <a:avLst>
                <a:gd name="adj" fmla="val 6944"/>
              </a:avLst>
            </a:prstGeom>
            <a:solidFill>
              <a:srgbClr val="F8F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T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E0BB240-3DF0-9F77-BBF6-F3516AEF046F}"/>
                    </a:ext>
                  </a:extLst>
                </p:cNvPr>
                <p:cNvSpPr txBox="1"/>
                <p:nvPr/>
              </p:nvSpPr>
              <p:spPr>
                <a:xfrm>
                  <a:off x="6680139" y="1396343"/>
                  <a:ext cx="4813049" cy="99520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5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GB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GB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25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GB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  <m:f>
                          <m:fPr>
                            <m:ctrlPr>
                              <a:rPr lang="en-MT" sz="25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MT" sz="25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MT" sz="25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MT" sz="25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d>
                          <m:dPr>
                            <m:ctrlPr>
                              <a:rPr lang="en-MT" sz="25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MT" sz="250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m:rPr>
                                    <m:nor/>
                                  </m:rPr>
                                  <a:rPr lang="en-MT" sz="2800" dirty="0"/>
                                  <m:t> </m:t>
                                </m:r>
                                <m:r>
                                  <a:rPr lang="en-MT" sz="28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GB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layer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MT" sz="25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T" sz="25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MT" sz="25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MT" sz="25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MT" sz="25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nary>
                          </m:e>
                        </m:d>
                      </m:oMath>
                    </m:oMathPara>
                  </a14:m>
                  <a:endParaRPr lang="en-MT" sz="2500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E0BB240-3DF0-9F77-BBF6-F3516AEF0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0139" y="1396343"/>
                  <a:ext cx="4813049" cy="99520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MT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C08CEFA-7D01-6382-EF40-BEF93803E41F}"/>
              </a:ext>
            </a:extLst>
          </p:cNvPr>
          <p:cNvCxnSpPr>
            <a:cxnSpLocks/>
          </p:cNvCxnSpPr>
          <p:nvPr/>
        </p:nvCxnSpPr>
        <p:spPr>
          <a:xfrm>
            <a:off x="6086272" y="1078629"/>
            <a:ext cx="9728" cy="494700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FF8AC900-1987-78EF-DE01-CAF33B913FC2}"/>
              </a:ext>
            </a:extLst>
          </p:cNvPr>
          <p:cNvGrpSpPr/>
          <p:nvPr/>
        </p:nvGrpSpPr>
        <p:grpSpPr>
          <a:xfrm>
            <a:off x="6372360" y="2636602"/>
            <a:ext cx="5660679" cy="3405584"/>
            <a:chOff x="6372360" y="2636602"/>
            <a:chExt cx="5660679" cy="3405584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123EC8A-DB0D-51A4-4FC2-B79412A50D9C}"/>
                </a:ext>
              </a:extLst>
            </p:cNvPr>
            <p:cNvSpPr txBox="1"/>
            <p:nvPr/>
          </p:nvSpPr>
          <p:spPr>
            <a:xfrm>
              <a:off x="7050310" y="2636602"/>
              <a:ext cx="4208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Starts from a real image</a:t>
              </a:r>
              <a:endParaRPr lang="en-MT" dirty="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661DF90B-52C4-5634-18FA-2A40D435749F}"/>
                </a:ext>
              </a:extLst>
            </p:cNvPr>
            <p:cNvSpPr/>
            <p:nvPr/>
          </p:nvSpPr>
          <p:spPr>
            <a:xfrm>
              <a:off x="6375313" y="2749886"/>
              <a:ext cx="644299" cy="642827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T" dirty="0"/>
            </a:p>
          </p:txBody>
        </p:sp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0B124FFE-4C70-F5D9-D827-0D9534E977F9}"/>
                </a:ext>
              </a:extLst>
            </p:cNvPr>
            <p:cNvSpPr txBox="1"/>
            <p:nvPr/>
          </p:nvSpPr>
          <p:spPr>
            <a:xfrm>
              <a:off x="7050309" y="2905780"/>
              <a:ext cx="48837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Instead of noise, DeepDream uses a real image as the starting point</a:t>
              </a:r>
              <a:endParaRPr lang="en-MT" sz="14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0D1540EC-3D33-B892-A343-BC2DA54EED15}"/>
                </a:ext>
              </a:extLst>
            </p:cNvPr>
            <p:cNvSpPr txBox="1"/>
            <p:nvPr/>
          </p:nvSpPr>
          <p:spPr>
            <a:xfrm>
              <a:off x="7050310" y="3507664"/>
              <a:ext cx="4208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Amplifies learned patters</a:t>
              </a:r>
              <a:endParaRPr lang="en-MT" dirty="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AF3261CB-EF8B-211D-88E0-E5E192F25F7C}"/>
                </a:ext>
              </a:extLst>
            </p:cNvPr>
            <p:cNvSpPr txBox="1"/>
            <p:nvPr/>
          </p:nvSpPr>
          <p:spPr>
            <a:xfrm>
              <a:off x="7050309" y="3776842"/>
              <a:ext cx="48837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It enhances the patters, textures and structures already present in the image</a:t>
              </a:r>
              <a:endParaRPr lang="en-MT" sz="14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2E12E46E-EE9B-096A-73D5-3B5A356FCA67}"/>
                </a:ext>
              </a:extLst>
            </p:cNvPr>
            <p:cNvSpPr txBox="1"/>
            <p:nvPr/>
          </p:nvSpPr>
          <p:spPr>
            <a:xfrm>
              <a:off x="7050310" y="4378726"/>
              <a:ext cx="4208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Optimises an entire layer</a:t>
              </a:r>
              <a:endParaRPr lang="en-MT" dirty="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4F1549B5-EC94-E102-E93E-B8096F65C7A6}"/>
                </a:ext>
              </a:extLst>
            </p:cNvPr>
            <p:cNvSpPr txBox="1"/>
            <p:nvPr/>
          </p:nvSpPr>
          <p:spPr>
            <a:xfrm>
              <a:off x="7050309" y="4647904"/>
              <a:ext cx="48837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DeepDream optimises the activations of all neurons in a layer simultaneously, not just one</a:t>
              </a:r>
              <a:endParaRPr lang="en-MT" sz="14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54" name="TextBox 1053">
              <a:extLst>
                <a:ext uri="{FF2B5EF4-FFF2-40B4-BE49-F238E27FC236}">
                  <a16:creationId xmlns:a16="http://schemas.microsoft.com/office/drawing/2014/main" id="{BC2C9D67-3539-9165-7390-637EAA85A711}"/>
                </a:ext>
              </a:extLst>
            </p:cNvPr>
            <p:cNvSpPr txBox="1"/>
            <p:nvPr/>
          </p:nvSpPr>
          <p:spPr>
            <a:xfrm>
              <a:off x="7050310" y="5249788"/>
              <a:ext cx="4208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Different layers, different dreams</a:t>
              </a:r>
              <a:endParaRPr lang="en-MT" dirty="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056" name="TextBox 1055">
              <a:extLst>
                <a:ext uri="{FF2B5EF4-FFF2-40B4-BE49-F238E27FC236}">
                  <a16:creationId xmlns:a16="http://schemas.microsoft.com/office/drawing/2014/main" id="{10FBFA46-9ACE-34E0-86D2-E62C7924D810}"/>
                </a:ext>
              </a:extLst>
            </p:cNvPr>
            <p:cNvSpPr txBox="1"/>
            <p:nvPr/>
          </p:nvSpPr>
          <p:spPr>
            <a:xfrm>
              <a:off x="7050309" y="5518966"/>
              <a:ext cx="498273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Earlier layers produce simpler textures and edges, while deeper layers create more complex object-like hallucinations</a:t>
              </a:r>
              <a:endParaRPr lang="en-MT" sz="14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58" name="Oval 1057">
              <a:extLst>
                <a:ext uri="{FF2B5EF4-FFF2-40B4-BE49-F238E27FC236}">
                  <a16:creationId xmlns:a16="http://schemas.microsoft.com/office/drawing/2014/main" id="{A72934D2-462A-C693-1ED3-895756CA5AEA}"/>
                </a:ext>
              </a:extLst>
            </p:cNvPr>
            <p:cNvSpPr/>
            <p:nvPr/>
          </p:nvSpPr>
          <p:spPr>
            <a:xfrm>
              <a:off x="6372360" y="3619143"/>
              <a:ext cx="644299" cy="642827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T" dirty="0"/>
            </a:p>
          </p:txBody>
        </p:sp>
        <p:sp>
          <p:nvSpPr>
            <p:cNvPr id="1059" name="Oval 1058">
              <a:extLst>
                <a:ext uri="{FF2B5EF4-FFF2-40B4-BE49-F238E27FC236}">
                  <a16:creationId xmlns:a16="http://schemas.microsoft.com/office/drawing/2014/main" id="{FACE51A5-BF3A-74BC-3966-3C33BEA1E8E1}"/>
                </a:ext>
              </a:extLst>
            </p:cNvPr>
            <p:cNvSpPr/>
            <p:nvPr/>
          </p:nvSpPr>
          <p:spPr>
            <a:xfrm>
              <a:off x="6372360" y="4503936"/>
              <a:ext cx="644299" cy="642827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T" dirty="0"/>
            </a:p>
          </p:txBody>
        </p:sp>
        <p:sp>
          <p:nvSpPr>
            <p:cNvPr id="1060" name="Oval 1059">
              <a:extLst>
                <a:ext uri="{FF2B5EF4-FFF2-40B4-BE49-F238E27FC236}">
                  <a16:creationId xmlns:a16="http://schemas.microsoft.com/office/drawing/2014/main" id="{AE666777-B98B-E49E-97D3-29CB43279B12}"/>
                </a:ext>
              </a:extLst>
            </p:cNvPr>
            <p:cNvSpPr/>
            <p:nvPr/>
          </p:nvSpPr>
          <p:spPr>
            <a:xfrm>
              <a:off x="6375313" y="5297706"/>
              <a:ext cx="644299" cy="642827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T" dirty="0"/>
            </a:p>
          </p:txBody>
        </p:sp>
        <p:pic>
          <p:nvPicPr>
            <p:cNvPr id="1062" name="Picture 1061">
              <a:extLst>
                <a:ext uri="{FF2B5EF4-FFF2-40B4-BE49-F238E27FC236}">
                  <a16:creationId xmlns:a16="http://schemas.microsoft.com/office/drawing/2014/main" id="{3A577CA8-A743-42E2-81BA-360AA7B81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500109" y="2876899"/>
              <a:ext cx="388800" cy="388800"/>
            </a:xfrm>
            <a:prstGeom prst="rect">
              <a:avLst/>
            </a:prstGeom>
          </p:spPr>
        </p:pic>
        <p:pic>
          <p:nvPicPr>
            <p:cNvPr id="1066" name="Picture 1065">
              <a:extLst>
                <a:ext uri="{FF2B5EF4-FFF2-40B4-BE49-F238E27FC236}">
                  <a16:creationId xmlns:a16="http://schemas.microsoft.com/office/drawing/2014/main" id="{F2C3F51B-EBDA-4132-8C38-DCACDF8D59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01717" y="3748013"/>
              <a:ext cx="389251" cy="389251"/>
            </a:xfrm>
            <a:prstGeom prst="rect">
              <a:avLst/>
            </a:prstGeom>
          </p:spPr>
        </p:pic>
        <p:pic>
          <p:nvPicPr>
            <p:cNvPr id="1068" name="Picture 1067">
              <a:extLst>
                <a:ext uri="{FF2B5EF4-FFF2-40B4-BE49-F238E27FC236}">
                  <a16:creationId xmlns:a16="http://schemas.microsoft.com/office/drawing/2014/main" id="{09990BE9-7989-0630-8139-F67C5F80C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500109" y="5424719"/>
              <a:ext cx="388800" cy="388800"/>
            </a:xfrm>
            <a:prstGeom prst="rect">
              <a:avLst/>
            </a:prstGeom>
          </p:spPr>
        </p:pic>
        <p:pic>
          <p:nvPicPr>
            <p:cNvPr id="1070" name="Picture 1069">
              <a:extLst>
                <a:ext uri="{FF2B5EF4-FFF2-40B4-BE49-F238E27FC236}">
                  <a16:creationId xmlns:a16="http://schemas.microsoft.com/office/drawing/2014/main" id="{1888D719-EFFB-F0A1-5272-576763810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503661" y="4630949"/>
              <a:ext cx="388800" cy="388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4824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CAFCB-CE38-F9F3-EFFB-F561E2F3B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A403A95-930D-F206-ED2F-60D8D651C0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820" t="16131" r="7884" b="18295"/>
          <a:stretch>
            <a:fillRect/>
          </a:stretch>
        </p:blipFill>
        <p:spPr>
          <a:xfrm>
            <a:off x="1" y="6318402"/>
            <a:ext cx="1455173" cy="5395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E18DA3-3FB3-A261-F8C2-769D22376387}"/>
              </a:ext>
            </a:extLst>
          </p:cNvPr>
          <p:cNvSpPr txBox="1"/>
          <p:nvPr/>
        </p:nvSpPr>
        <p:spPr>
          <a:xfrm>
            <a:off x="3559176" y="207077"/>
            <a:ext cx="507364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Real-World Applications</a:t>
            </a:r>
            <a:endParaRPr kumimoji="0" lang="en-MT" sz="3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A30FE1-979D-5B64-99A9-EE7A102FB4B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846067" y="805433"/>
            <a:ext cx="4499853" cy="176780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45D78FD7-197A-2C81-2531-3FACFD36147F}"/>
              </a:ext>
            </a:extLst>
          </p:cNvPr>
          <p:cNvGrpSpPr/>
          <p:nvPr/>
        </p:nvGrpSpPr>
        <p:grpSpPr>
          <a:xfrm>
            <a:off x="727587" y="2086598"/>
            <a:ext cx="10677228" cy="2212848"/>
            <a:chOff x="727587" y="2086598"/>
            <a:chExt cx="10677228" cy="221284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C45E598-7B50-9707-BDA2-5FC5D69955DC}"/>
                </a:ext>
              </a:extLst>
            </p:cNvPr>
            <p:cNvSpPr txBox="1"/>
            <p:nvPr/>
          </p:nvSpPr>
          <p:spPr>
            <a:xfrm>
              <a:off x="727587" y="3743290"/>
              <a:ext cx="18592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Explainable AI</a:t>
              </a:r>
              <a:endParaRPr lang="en-MT" sz="2000" dirty="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4A096B3-62B6-3CE6-FEE2-D87203FF2612}"/>
                </a:ext>
              </a:extLst>
            </p:cNvPr>
            <p:cNvSpPr txBox="1"/>
            <p:nvPr/>
          </p:nvSpPr>
          <p:spPr>
            <a:xfrm>
              <a:off x="2973096" y="3589402"/>
              <a:ext cx="176517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CNN Debugging</a:t>
              </a:r>
              <a:endParaRPr lang="en-MT" sz="2000" dirty="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175E62D-CF4F-5D01-6932-A5F872D14D62}"/>
                </a:ext>
              </a:extLst>
            </p:cNvPr>
            <p:cNvSpPr txBox="1"/>
            <p:nvPr/>
          </p:nvSpPr>
          <p:spPr>
            <a:xfrm>
              <a:off x="5336960" y="3591560"/>
              <a:ext cx="143443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Medical Imaging</a:t>
              </a:r>
              <a:endParaRPr lang="en-MT" sz="2000" dirty="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C07EED3-49A3-2648-E428-58E93E37EB07}"/>
                </a:ext>
              </a:extLst>
            </p:cNvPr>
            <p:cNvSpPr txBox="1"/>
            <p:nvPr/>
          </p:nvSpPr>
          <p:spPr>
            <a:xfrm>
              <a:off x="7299016" y="3591560"/>
              <a:ext cx="190730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Model Interpretability</a:t>
              </a:r>
              <a:endParaRPr lang="en-MT" sz="2000" dirty="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6820B22-BCE3-A12B-0CE7-CAB7C56CBB5F}"/>
                </a:ext>
              </a:extLst>
            </p:cNvPr>
            <p:cNvSpPr txBox="1"/>
            <p:nvPr/>
          </p:nvSpPr>
          <p:spPr>
            <a:xfrm>
              <a:off x="9497509" y="3589402"/>
              <a:ext cx="190730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Adversarial understanding</a:t>
              </a:r>
              <a:endParaRPr lang="en-MT" sz="2000" dirty="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96C754B-E673-17B8-5AD4-629C8E111C91}"/>
                </a:ext>
              </a:extLst>
            </p:cNvPr>
            <p:cNvSpPr/>
            <p:nvPr/>
          </p:nvSpPr>
          <p:spPr>
            <a:xfrm>
              <a:off x="894001" y="2086599"/>
              <a:ext cx="1526378" cy="1509131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T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D59CE2-7C96-A247-EDE7-1DB7C233CF6B}"/>
                </a:ext>
              </a:extLst>
            </p:cNvPr>
            <p:cNvSpPr/>
            <p:nvPr/>
          </p:nvSpPr>
          <p:spPr>
            <a:xfrm>
              <a:off x="3092494" y="2107169"/>
              <a:ext cx="1526378" cy="1509131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T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DF9A175-D16D-50A2-EAC2-BFF3EB9A2BB6}"/>
                </a:ext>
              </a:extLst>
            </p:cNvPr>
            <p:cNvSpPr/>
            <p:nvPr/>
          </p:nvSpPr>
          <p:spPr>
            <a:xfrm>
              <a:off x="5290987" y="2086599"/>
              <a:ext cx="1526378" cy="1509131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T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E1F02F5-E512-1967-FDB6-458E9F3CE25B}"/>
                </a:ext>
              </a:extLst>
            </p:cNvPr>
            <p:cNvSpPr/>
            <p:nvPr/>
          </p:nvSpPr>
          <p:spPr>
            <a:xfrm>
              <a:off x="7489480" y="2086598"/>
              <a:ext cx="1526378" cy="1509131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T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4F12E8D-A74B-5B61-582B-2FB4A60E626C}"/>
                </a:ext>
              </a:extLst>
            </p:cNvPr>
            <p:cNvSpPr/>
            <p:nvPr/>
          </p:nvSpPr>
          <p:spPr>
            <a:xfrm>
              <a:off x="9687973" y="2086598"/>
              <a:ext cx="1526378" cy="1509131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T" dirty="0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DF67BAB-2A09-A0CB-D5F2-100FE2452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17189" y="2319700"/>
              <a:ext cx="1080000" cy="10800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EAC4C7B-D171-4255-8571-94D7A86008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62061" y="2359612"/>
              <a:ext cx="1008652" cy="1008652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39C01DD-F99D-7405-7AB9-54B3817CE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biLevel thresh="75000"/>
            </a:blip>
            <a:stretch>
              <a:fillRect/>
            </a:stretch>
          </p:blipFill>
          <p:spPr>
            <a:xfrm>
              <a:off x="5595622" y="2403181"/>
              <a:ext cx="917105" cy="917105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7869DBF-89FA-23A2-24F8-42D64C339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803223" y="2418603"/>
              <a:ext cx="882193" cy="882193"/>
            </a:xfrm>
            <a:prstGeom prst="rect">
              <a:avLst/>
            </a:prstGeom>
          </p:spPr>
        </p:pic>
        <p:pic>
          <p:nvPicPr>
            <p:cNvPr id="1028" name="Picture 4" descr="Adversarial Icons - Free SVG &amp; PNG Adversarial Images - Noun Project">
              <a:extLst>
                <a:ext uri="{FF2B5EF4-FFF2-40B4-BE49-F238E27FC236}">
                  <a16:creationId xmlns:a16="http://schemas.microsoft.com/office/drawing/2014/main" id="{DB7BFE80-135F-25F2-AEBA-255D70E10F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10" t="10109" r="8070" b="8350"/>
            <a:stretch>
              <a:fillRect/>
            </a:stretch>
          </p:blipFill>
          <p:spPr bwMode="auto">
            <a:xfrm>
              <a:off x="9945727" y="2300203"/>
              <a:ext cx="1071830" cy="1055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8479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211F4-556D-6BE1-A539-45D2E70E6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1BF005-2093-14C1-2452-68EAFF665B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820" t="16131" r="7884" b="18295"/>
          <a:stretch>
            <a:fillRect/>
          </a:stretch>
        </p:blipFill>
        <p:spPr>
          <a:xfrm>
            <a:off x="1" y="6318402"/>
            <a:ext cx="1455173" cy="5395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E798D-AB83-01F9-74C3-8757E4D0FE7E}"/>
              </a:ext>
            </a:extLst>
          </p:cNvPr>
          <p:cNvSpPr txBox="1"/>
          <p:nvPr/>
        </p:nvSpPr>
        <p:spPr>
          <a:xfrm>
            <a:off x="3303588" y="207077"/>
            <a:ext cx="55848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Limitations and Alternatives</a:t>
            </a:r>
            <a:endParaRPr kumimoji="0" lang="en-MT" sz="3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CCF128-2D92-5682-1402-A3C016787EB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846067" y="805433"/>
            <a:ext cx="4499853" cy="176780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71A0925F-E4CD-5BC0-0510-4C3139E0BCBF}"/>
              </a:ext>
            </a:extLst>
          </p:cNvPr>
          <p:cNvGrpSpPr/>
          <p:nvPr/>
        </p:nvGrpSpPr>
        <p:grpSpPr>
          <a:xfrm>
            <a:off x="8345920" y="1623243"/>
            <a:ext cx="3178006" cy="3380187"/>
            <a:chOff x="8345919" y="1854566"/>
            <a:chExt cx="3178006" cy="3380187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47BC74D-8D73-A656-79E4-B1C687873413}"/>
                </a:ext>
              </a:extLst>
            </p:cNvPr>
            <p:cNvGrpSpPr/>
            <p:nvPr/>
          </p:nvGrpSpPr>
          <p:grpSpPr>
            <a:xfrm>
              <a:off x="8345919" y="1854566"/>
              <a:ext cx="3178006" cy="3380187"/>
              <a:chOff x="668061" y="1854566"/>
              <a:chExt cx="3178006" cy="3380187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" name="Rectangle: Rounded Corners 38">
                    <a:extLst>
                      <a:ext uri="{FF2B5EF4-FFF2-40B4-BE49-F238E27FC236}">
                        <a16:creationId xmlns:a16="http://schemas.microsoft.com/office/drawing/2014/main" id="{C03EEC99-DB77-D11A-D91E-0B1907DEFDF3}"/>
                      </a:ext>
                    </a:extLst>
                  </p:cNvPr>
                  <p:cNvSpPr/>
                  <p:nvPr/>
                </p:nvSpPr>
                <p:spPr>
                  <a:xfrm>
                    <a:off x="668061" y="1854567"/>
                    <a:ext cx="3178006" cy="3380186"/>
                  </a:xfrm>
                  <a:prstGeom prst="roundRect">
                    <a:avLst>
                      <a:gd name="adj" fmla="val 2737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905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a:fld id="{825F15A7-03F4-43D7-82C5-3E23DA2F108C}" type="mathplaceholder">
                            <a:rPr lang="en-MT" i="1" smtClean="0">
                              <a:latin typeface="Cambria Math" panose="02040503050406030204" pitchFamily="18" charset="0"/>
                            </a:rPr>
                            <a:t>Type equation here.</a:t>
                          </a:fld>
                        </m:oMath>
                      </m:oMathPara>
                    </a14:m>
                    <a:endParaRPr lang="en-MT" dirty="0"/>
                  </a:p>
                </p:txBody>
              </p:sp>
            </mc:Choice>
            <mc:Fallback>
              <p:sp>
                <p:nvSpPr>
                  <p:cNvPr id="39" name="Rectangle: Rounded Corners 38">
                    <a:extLst>
                      <a:ext uri="{FF2B5EF4-FFF2-40B4-BE49-F238E27FC236}">
                        <a16:creationId xmlns:a16="http://schemas.microsoft.com/office/drawing/2014/main" id="{C03EEC99-DB77-D11A-D91E-0B1907DEFDF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8061" y="1854567"/>
                    <a:ext cx="3178006" cy="3380186"/>
                  </a:xfrm>
                  <a:prstGeom prst="roundRect">
                    <a:avLst>
                      <a:gd name="adj" fmla="val 2737"/>
                    </a:avLst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  <a:effectLst>
                    <a:outerShdw blurRad="1905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r>
                      <a:rPr lang="en-M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0" name="Rectangle: Top Corners Rounded 39">
                <a:extLst>
                  <a:ext uri="{FF2B5EF4-FFF2-40B4-BE49-F238E27FC236}">
                    <a16:creationId xmlns:a16="http://schemas.microsoft.com/office/drawing/2014/main" id="{69217A63-FCD6-78C1-03FF-D05E4C5387FF}"/>
                  </a:ext>
                </a:extLst>
              </p:cNvPr>
              <p:cNvSpPr/>
              <p:nvPr/>
            </p:nvSpPr>
            <p:spPr>
              <a:xfrm>
                <a:off x="668061" y="1854566"/>
                <a:ext cx="3178006" cy="14187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05C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T" dirty="0"/>
              </a:p>
            </p:txBody>
          </p:sp>
        </p:grp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FDE78903-DFCD-15F6-AB85-C9749476E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672" t="2605" r="5837" b="1"/>
            <a:stretch>
              <a:fillRect/>
            </a:stretch>
          </p:blipFill>
          <p:spPr>
            <a:xfrm>
              <a:off x="8536659" y="2113847"/>
              <a:ext cx="557067" cy="536400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55A581A-0CB2-7B99-A61F-6C6ED737407C}"/>
                </a:ext>
              </a:extLst>
            </p:cNvPr>
            <p:cNvSpPr txBox="1"/>
            <p:nvPr/>
          </p:nvSpPr>
          <p:spPr>
            <a:xfrm>
              <a:off x="9002286" y="2181992"/>
              <a:ext cx="1715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Alternatives</a:t>
              </a:r>
              <a:endParaRPr kumimoji="0" lang="en-M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78D8E7F6-70F8-E849-2CFE-2934BF8F992F}"/>
              </a:ext>
            </a:extLst>
          </p:cNvPr>
          <p:cNvGrpSpPr/>
          <p:nvPr/>
        </p:nvGrpSpPr>
        <p:grpSpPr>
          <a:xfrm>
            <a:off x="668061" y="1623243"/>
            <a:ext cx="3391806" cy="3380187"/>
            <a:chOff x="668061" y="1623243"/>
            <a:chExt cx="3391806" cy="3380187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EEE0E207-70BB-B1B3-6C5B-CD915D33EF1B}"/>
                </a:ext>
              </a:extLst>
            </p:cNvPr>
            <p:cNvGrpSpPr/>
            <p:nvPr/>
          </p:nvGrpSpPr>
          <p:grpSpPr>
            <a:xfrm>
              <a:off x="668061" y="1623243"/>
              <a:ext cx="3391806" cy="3380187"/>
              <a:chOff x="668061" y="1854566"/>
              <a:chExt cx="3391806" cy="3380187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D117E1D1-3B49-3DF3-F791-DFCF4EA72AB0}"/>
                  </a:ext>
                </a:extLst>
              </p:cNvPr>
              <p:cNvGrpSpPr/>
              <p:nvPr/>
            </p:nvGrpSpPr>
            <p:grpSpPr>
              <a:xfrm>
                <a:off x="668061" y="1854566"/>
                <a:ext cx="3391806" cy="3380187"/>
                <a:chOff x="668061" y="1854566"/>
                <a:chExt cx="3391806" cy="3380187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1" name="Rectangle: Rounded Corners 10">
                      <a:extLst>
                        <a:ext uri="{FF2B5EF4-FFF2-40B4-BE49-F238E27FC236}">
                          <a16:creationId xmlns:a16="http://schemas.microsoft.com/office/drawing/2014/main" id="{BA495C12-449B-CFD0-0FD3-2BA9533670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8061" y="1854567"/>
                      <a:ext cx="3391806" cy="3380186"/>
                    </a:xfrm>
                    <a:prstGeom prst="roundRect">
                      <a:avLst>
                        <a:gd name="adj" fmla="val 2737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  <a:effectLst>
                      <a:outerShdw blurRad="1905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a:fld id="{825F15A7-03F4-43D7-82C5-3E23DA2F108C}" type="mathplaceholder">
                              <a:rPr lang="en-MT" i="1" smtClean="0">
                                <a:latin typeface="Cambria Math" panose="02040503050406030204" pitchFamily="18" charset="0"/>
                              </a:rPr>
                              <a:t>Type equation here.</a:t>
                            </a:fld>
                          </m:oMath>
                        </m:oMathPara>
                      </a14:m>
                      <a:endParaRPr lang="en-MT" dirty="0"/>
                    </a:p>
                  </p:txBody>
                </p:sp>
              </mc:Choice>
              <mc:Fallback>
                <p:sp>
                  <p:nvSpPr>
                    <p:cNvPr id="11" name="Rectangle: Rounded Corners 10">
                      <a:extLst>
                        <a:ext uri="{FF2B5EF4-FFF2-40B4-BE49-F238E27FC236}">
                          <a16:creationId xmlns:a16="http://schemas.microsoft.com/office/drawing/2014/main" id="{BA495C12-449B-CFD0-0FD3-2BA95336709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8061" y="1854567"/>
                      <a:ext cx="3391806" cy="3380186"/>
                    </a:xfrm>
                    <a:prstGeom prst="roundRect">
                      <a:avLst>
                        <a:gd name="adj" fmla="val 2737"/>
                      </a:avLst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  <a:effectLst>
                      <a:outerShdw blurRad="1905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r>
                        <a:rPr lang="en-MT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2" name="Rectangle: Top Corners Rounded 31">
                  <a:extLst>
                    <a:ext uri="{FF2B5EF4-FFF2-40B4-BE49-F238E27FC236}">
                      <a16:creationId xmlns:a16="http://schemas.microsoft.com/office/drawing/2014/main" id="{21162AA9-76F6-DD5F-B6A2-A894CC02BD07}"/>
                    </a:ext>
                  </a:extLst>
                </p:cNvPr>
                <p:cNvSpPr/>
                <p:nvPr/>
              </p:nvSpPr>
              <p:spPr>
                <a:xfrm>
                  <a:off x="668061" y="1854566"/>
                  <a:ext cx="3391806" cy="141874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C2524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T"/>
                </a:p>
              </p:txBody>
            </p:sp>
          </p:grpSp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C7AEAB75-F028-A839-C57E-4BAED8BC4C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9707" t="3813" r="8498" b="7516"/>
              <a:stretch>
                <a:fillRect/>
              </a:stretch>
            </p:blipFill>
            <p:spPr>
              <a:xfrm>
                <a:off x="862919" y="2118306"/>
                <a:ext cx="534739" cy="535619"/>
              </a:xfrm>
              <a:prstGeom prst="rect">
                <a:avLst/>
              </a:prstGeom>
            </p:spPr>
          </p:pic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62B642D-F734-7E95-7D58-A1996C2BFAFC}"/>
                  </a:ext>
                </a:extLst>
              </p:cNvPr>
              <p:cNvSpPr txBox="1"/>
              <p:nvPr/>
            </p:nvSpPr>
            <p:spPr>
              <a:xfrm>
                <a:off x="1323195" y="2181992"/>
                <a:ext cx="175078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Failure cases</a:t>
                </a:r>
                <a:endParaRPr kumimoji="0" lang="en-MT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6C40B62-F512-4705-9F7E-B4ECF7E899C3}"/>
                </a:ext>
              </a:extLst>
            </p:cNvPr>
            <p:cNvSpPr txBox="1"/>
            <p:nvPr/>
          </p:nvSpPr>
          <p:spPr>
            <a:xfrm>
              <a:off x="712964" y="2486288"/>
              <a:ext cx="330200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2563" indent="-182563">
                <a:buClr>
                  <a:srgbClr val="C25248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en-GB" dirty="0">
                  <a:latin typeface="Segoe UI" panose="020B0502040204020203" pitchFamily="34" charset="0"/>
                  <a:cs typeface="Segoe UI" panose="020B0502040204020203" pitchFamily="34" charset="0"/>
                </a:rPr>
                <a:t>Repetitive textures or colour blobs</a:t>
              </a:r>
            </a:p>
            <a:p>
              <a:pPr marL="182563" indent="-182563">
                <a:buClr>
                  <a:srgbClr val="C25248"/>
                </a:buClr>
                <a:buSzPct val="130000"/>
                <a:buFont typeface="Arial" panose="020B0604020202020204" pitchFamily="34" charset="0"/>
                <a:buChar char="•"/>
              </a:pPr>
              <a:endParaRPr lang="en-GB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182563" indent="-182563">
                <a:buClr>
                  <a:srgbClr val="C25248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en-GB" dirty="0">
                  <a:latin typeface="Segoe UI" panose="020B0502040204020203" pitchFamily="34" charset="0"/>
                  <a:cs typeface="Segoe UI" panose="020B0502040204020203" pitchFamily="34" charset="0"/>
                </a:rPr>
                <a:t>DeepDream may hallucinate random patterns</a:t>
              </a:r>
            </a:p>
            <a:p>
              <a:pPr marL="182563" indent="-182563">
                <a:buClr>
                  <a:srgbClr val="C25248"/>
                </a:buClr>
                <a:buSzPct val="130000"/>
                <a:buFont typeface="Arial" panose="020B0604020202020204" pitchFamily="34" charset="0"/>
                <a:buChar char="•"/>
              </a:pPr>
              <a:endParaRPr lang="en-GB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182563" indent="-182563">
                <a:buClr>
                  <a:srgbClr val="C25248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Outputs can be sensitive to parameter choices</a:t>
              </a:r>
              <a:endParaRPr lang="en-US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A5301E98-C126-9A52-7307-B2ECB2D7B7C6}"/>
              </a:ext>
            </a:extLst>
          </p:cNvPr>
          <p:cNvGrpSpPr/>
          <p:nvPr/>
        </p:nvGrpSpPr>
        <p:grpSpPr>
          <a:xfrm>
            <a:off x="4613890" y="1623243"/>
            <a:ext cx="3178007" cy="3380187"/>
            <a:chOff x="4613890" y="1623243"/>
            <a:chExt cx="3178007" cy="3380187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9515975-A608-C393-A3C4-E67F8195C6D6}"/>
                </a:ext>
              </a:extLst>
            </p:cNvPr>
            <p:cNvGrpSpPr/>
            <p:nvPr/>
          </p:nvGrpSpPr>
          <p:grpSpPr>
            <a:xfrm>
              <a:off x="4613890" y="1623243"/>
              <a:ext cx="3178006" cy="3380187"/>
              <a:chOff x="4506990" y="1854566"/>
              <a:chExt cx="3178006" cy="3380187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D03E869-E68F-C244-19C7-710176F5108C}"/>
                  </a:ext>
                </a:extLst>
              </p:cNvPr>
              <p:cNvGrpSpPr/>
              <p:nvPr/>
            </p:nvGrpSpPr>
            <p:grpSpPr>
              <a:xfrm>
                <a:off x="4506990" y="1854566"/>
                <a:ext cx="3178006" cy="3380187"/>
                <a:chOff x="668061" y="1854566"/>
                <a:chExt cx="3178006" cy="3380187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6" name="Rectangle: Rounded Corners 35">
                      <a:extLst>
                        <a:ext uri="{FF2B5EF4-FFF2-40B4-BE49-F238E27FC236}">
                          <a16:creationId xmlns:a16="http://schemas.microsoft.com/office/drawing/2014/main" id="{2FFF6411-093C-9502-41D5-A5680071E8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8061" y="1854567"/>
                      <a:ext cx="3178006" cy="3380186"/>
                    </a:xfrm>
                    <a:prstGeom prst="roundRect">
                      <a:avLst>
                        <a:gd name="adj" fmla="val 2737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  <a:effectLst>
                      <a:outerShdw blurRad="1905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a:fld id="{825F15A7-03F4-43D7-82C5-3E23DA2F108C}" type="mathplaceholder">
                              <a:rPr lang="en-MT" i="1" smtClean="0">
                                <a:latin typeface="Cambria Math" panose="02040503050406030204" pitchFamily="18" charset="0"/>
                              </a:rPr>
                              <a:t>Type equation here.</a:t>
                            </a:fld>
                          </m:oMath>
                        </m:oMathPara>
                      </a14:m>
                      <a:endParaRPr lang="en-MT" dirty="0"/>
                    </a:p>
                  </p:txBody>
                </p:sp>
              </mc:Choice>
              <mc:Fallback>
                <p:sp>
                  <p:nvSpPr>
                    <p:cNvPr id="36" name="Rectangle: Rounded Corners 35">
                      <a:extLst>
                        <a:ext uri="{FF2B5EF4-FFF2-40B4-BE49-F238E27FC236}">
                          <a16:creationId xmlns:a16="http://schemas.microsoft.com/office/drawing/2014/main" id="{2FFF6411-093C-9502-41D5-A5680071E82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8061" y="1854567"/>
                      <a:ext cx="3178006" cy="3380186"/>
                    </a:xfrm>
                    <a:prstGeom prst="roundRect">
                      <a:avLst>
                        <a:gd name="adj" fmla="val 2737"/>
                      </a:avLst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>
                      <a:noFill/>
                    </a:ln>
                    <a:effectLst>
                      <a:outerShdw blurRad="1905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r>
                        <a:rPr lang="en-MT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7" name="Rectangle: Top Corners Rounded 36">
                  <a:extLst>
                    <a:ext uri="{FF2B5EF4-FFF2-40B4-BE49-F238E27FC236}">
                      <a16:creationId xmlns:a16="http://schemas.microsoft.com/office/drawing/2014/main" id="{4A39DCF0-31F6-6D7C-1AF2-7705F2C3B1C4}"/>
                    </a:ext>
                  </a:extLst>
                </p:cNvPr>
                <p:cNvSpPr/>
                <p:nvPr/>
              </p:nvSpPr>
              <p:spPr>
                <a:xfrm>
                  <a:off x="668061" y="1854566"/>
                  <a:ext cx="3178006" cy="141874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53235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T"/>
                </a:p>
              </p:txBody>
            </p:sp>
          </p:grp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4E3F3991-1E11-3F33-AA68-428BBC4E37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l="9106" t="3894" r="12265" b="6012"/>
              <a:stretch>
                <a:fillRect/>
              </a:stretch>
            </p:blipFill>
            <p:spPr>
              <a:xfrm>
                <a:off x="4697730" y="2118306"/>
                <a:ext cx="522800" cy="536400"/>
              </a:xfrm>
              <a:prstGeom prst="rect">
                <a:avLst/>
              </a:prstGeom>
            </p:spPr>
          </p:pic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64A7C32-33C7-5E6A-D01F-B0503BD589C0}"/>
                  </a:ext>
                </a:extLst>
              </p:cNvPr>
              <p:cNvSpPr txBox="1"/>
              <p:nvPr/>
            </p:nvSpPr>
            <p:spPr>
              <a:xfrm>
                <a:off x="5162124" y="2181992"/>
                <a:ext cx="2186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When not to use</a:t>
                </a:r>
                <a:endParaRPr kumimoji="0" lang="en-MT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id="{19000C92-277A-BC74-09DC-72E015E15276}"/>
                </a:ext>
              </a:extLst>
            </p:cNvPr>
            <p:cNvSpPr txBox="1"/>
            <p:nvPr/>
          </p:nvSpPr>
          <p:spPr>
            <a:xfrm>
              <a:off x="4613890" y="2486288"/>
              <a:ext cx="3178007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2563" indent="-182563">
                <a:buClr>
                  <a:srgbClr val="53235D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en-GB" dirty="0">
                  <a:latin typeface="Segoe UI" panose="020B0502040204020203" pitchFamily="34" charset="0"/>
                  <a:cs typeface="Segoe UI" panose="020B0502040204020203" pitchFamily="34" charset="0"/>
                </a:rPr>
                <a:t>For safety-critical decisions</a:t>
              </a:r>
            </a:p>
            <a:p>
              <a:pPr marL="182563" indent="-182563">
                <a:buClr>
                  <a:srgbClr val="53235D"/>
                </a:buClr>
                <a:buSzPct val="130000"/>
                <a:buFont typeface="Arial" panose="020B0604020202020204" pitchFamily="34" charset="0"/>
                <a:buChar char="•"/>
              </a:pPr>
              <a:endParaRPr lang="en-GB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182563" indent="-182563">
                <a:buClr>
                  <a:srgbClr val="53235D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en-GB" dirty="0">
                  <a:latin typeface="Segoe UI" panose="020B0502040204020203" pitchFamily="34" charset="0"/>
                  <a:cs typeface="Segoe UI" panose="020B0502040204020203" pitchFamily="34" charset="0"/>
                </a:rPr>
                <a:t>Poor choice when you need one clear explanation for a real prediction</a:t>
              </a:r>
            </a:p>
            <a:p>
              <a:pPr marL="182563" indent="-182563">
                <a:buClr>
                  <a:srgbClr val="53235D"/>
                </a:buClr>
                <a:buSzPct val="130000"/>
                <a:buFont typeface="Arial" panose="020B0604020202020204" pitchFamily="34" charset="0"/>
                <a:buChar char="•"/>
              </a:pPr>
              <a:endParaRPr lang="en-GB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182563" indent="-182563">
                <a:buClr>
                  <a:srgbClr val="53235D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en-GB" dirty="0">
                  <a:latin typeface="Segoe UI" panose="020B0502040204020203" pitchFamily="34" charset="0"/>
                  <a:cs typeface="Segoe UI" panose="020B0502040204020203" pitchFamily="34" charset="0"/>
                </a:rPr>
                <a:t>Not proof that the model understands the object</a:t>
              </a:r>
            </a:p>
          </p:txBody>
        </p:sp>
      </p:grpSp>
      <p:sp>
        <p:nvSpPr>
          <p:cNvPr id="1035" name="TextBox 1034">
            <a:extLst>
              <a:ext uri="{FF2B5EF4-FFF2-40B4-BE49-F238E27FC236}">
                <a16:creationId xmlns:a16="http://schemas.microsoft.com/office/drawing/2014/main" id="{B9CFC0C2-E5A1-2F16-1F2B-44A42B6DE7AF}"/>
              </a:ext>
            </a:extLst>
          </p:cNvPr>
          <p:cNvSpPr txBox="1"/>
          <p:nvPr/>
        </p:nvSpPr>
        <p:spPr>
          <a:xfrm>
            <a:off x="8345921" y="2486288"/>
            <a:ext cx="31780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Clr>
                <a:srgbClr val="205C70"/>
              </a:buClr>
              <a:buSzPct val="130000"/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Grad-CAM: highlights important image regions</a:t>
            </a:r>
          </a:p>
          <a:p>
            <a:pPr marL="182563" indent="-182563">
              <a:buClr>
                <a:srgbClr val="205C70"/>
              </a:buClr>
              <a:buSzPct val="130000"/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82563" indent="-182563">
              <a:buClr>
                <a:srgbClr val="205C70"/>
              </a:buClr>
              <a:buSzPct val="130000"/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Saliency / Guided BP: pixel-level sensitivity</a:t>
            </a:r>
          </a:p>
          <a:p>
            <a:pPr marL="182563" indent="-182563">
              <a:buClr>
                <a:srgbClr val="205C70"/>
              </a:buClr>
              <a:buSzPct val="130000"/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82563" indent="-182563">
              <a:buClr>
                <a:srgbClr val="205C70"/>
              </a:buClr>
              <a:buSzPct val="130000"/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Feature maps: inspect intermediate activations.</a:t>
            </a:r>
          </a:p>
        </p:txBody>
      </p:sp>
    </p:spTree>
    <p:extLst>
      <p:ext uri="{BB962C8B-B14F-4D97-AF65-F5344CB8AC3E}">
        <p14:creationId xmlns:p14="http://schemas.microsoft.com/office/powerpoint/2010/main" val="2737900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2067D-9992-ECF3-4AB1-7F7E65D65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46CF048-C8C5-DA76-9A50-B91F6B5B92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820" t="16131" r="7884" b="18295"/>
          <a:stretch>
            <a:fillRect/>
          </a:stretch>
        </p:blipFill>
        <p:spPr>
          <a:xfrm>
            <a:off x="1" y="6318402"/>
            <a:ext cx="1455173" cy="5395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C10B1F-AE42-36FD-2527-C6238550179D}"/>
              </a:ext>
            </a:extLst>
          </p:cNvPr>
          <p:cNvSpPr txBox="1"/>
          <p:nvPr/>
        </p:nvSpPr>
        <p:spPr>
          <a:xfrm>
            <a:off x="3187430" y="6333392"/>
            <a:ext cx="9004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T" sz="2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https://davidf-22.github.io/ARI5118-DeepLearningCV_Project/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EDF1480-1386-E8F1-5A5D-A5584C5094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9387190" cy="6235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79414E-7041-CDFB-DE7D-C3C773B697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892" r="11229"/>
          <a:stretch>
            <a:fillRect/>
          </a:stretch>
        </p:blipFill>
        <p:spPr>
          <a:xfrm>
            <a:off x="9465014" y="1722343"/>
            <a:ext cx="2624136" cy="341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188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F7DC9-40F4-1F2F-2087-1E4B7DC1D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5EAA84-6767-C020-CE9A-833D46833D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820" t="16131" r="7884" b="18295"/>
          <a:stretch>
            <a:fillRect/>
          </a:stretch>
        </p:blipFill>
        <p:spPr>
          <a:xfrm>
            <a:off x="1" y="6318402"/>
            <a:ext cx="1455173" cy="5395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79CF23-AFA8-E989-3B15-2A9951ACAB1A}"/>
              </a:ext>
            </a:extLst>
          </p:cNvPr>
          <p:cNvSpPr txBox="1"/>
          <p:nvPr/>
        </p:nvSpPr>
        <p:spPr>
          <a:xfrm>
            <a:off x="2404443" y="207077"/>
            <a:ext cx="73831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Let’s See How Much You Understood </a:t>
            </a: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Wingdings" panose="05000000000000000000" pitchFamily="2" charset="2"/>
              </a:rPr>
              <a:t></a:t>
            </a:r>
            <a:endParaRPr kumimoji="0" lang="en-MT" sz="3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392EB1-EDFB-CF60-4D0D-EB1C08511EE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846067" y="805433"/>
            <a:ext cx="4499853" cy="1767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C64FD79-98C6-8C1A-6CC2-89C0B8A0D9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05" y="1026571"/>
            <a:ext cx="5223754" cy="52237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D4EB231-0083-749E-198E-4A8F867012E0}"/>
              </a:ext>
            </a:extLst>
          </p:cNvPr>
          <p:cNvSpPr txBox="1"/>
          <p:nvPr/>
        </p:nvSpPr>
        <p:spPr>
          <a:xfrm>
            <a:off x="1993736" y="1859339"/>
            <a:ext cx="31404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Quiz Time</a:t>
            </a:r>
            <a:endParaRPr lang="en-MT" sz="99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7CE5E2E-9074-3D79-F971-A302E51B0E15}"/>
              </a:ext>
            </a:extLst>
          </p:cNvPr>
          <p:cNvCxnSpPr>
            <a:cxnSpLocks/>
          </p:cNvCxnSpPr>
          <p:nvPr/>
        </p:nvCxnSpPr>
        <p:spPr>
          <a:xfrm>
            <a:off x="6086272" y="1151479"/>
            <a:ext cx="13976" cy="4973938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022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3FF7-605E-7DCB-FA91-17D02D559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BD93F8-9E47-06ED-FF93-92504DBF250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820" t="16131" r="7884" b="18295"/>
          <a:stretch>
            <a:fillRect/>
          </a:stretch>
        </p:blipFill>
        <p:spPr>
          <a:xfrm>
            <a:off x="1" y="6318402"/>
            <a:ext cx="1455173" cy="5395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6287B7-7202-9AB8-A7C2-BA03555D155B}"/>
              </a:ext>
            </a:extLst>
          </p:cNvPr>
          <p:cNvSpPr txBox="1"/>
          <p:nvPr/>
        </p:nvSpPr>
        <p:spPr>
          <a:xfrm>
            <a:off x="3736687" y="207077"/>
            <a:ext cx="47186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References Used</a:t>
            </a:r>
            <a:endParaRPr kumimoji="0" lang="en-MT" sz="3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273336-3612-73C4-1384-AB81C182BA98}"/>
              </a:ext>
            </a:extLst>
          </p:cNvPr>
          <p:cNvGrpSpPr/>
          <p:nvPr/>
        </p:nvGrpSpPr>
        <p:grpSpPr>
          <a:xfrm>
            <a:off x="3936997" y="832366"/>
            <a:ext cx="4318000" cy="122914"/>
            <a:chOff x="3936997" y="832366"/>
            <a:chExt cx="4318000" cy="122914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E931FDB-8A5C-DCB5-19C8-89CFC63DB3D4}"/>
                </a:ext>
              </a:extLst>
            </p:cNvPr>
            <p:cNvCxnSpPr>
              <a:cxnSpLocks/>
            </p:cNvCxnSpPr>
            <p:nvPr/>
          </p:nvCxnSpPr>
          <p:spPr>
            <a:xfrm>
              <a:off x="3936997" y="894080"/>
              <a:ext cx="4318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4D73828-DE89-9EEA-9B6C-9801B9641B87}"/>
                </a:ext>
              </a:extLst>
            </p:cNvPr>
            <p:cNvSpPr/>
            <p:nvPr/>
          </p:nvSpPr>
          <p:spPr>
            <a:xfrm>
              <a:off x="6034538" y="832366"/>
              <a:ext cx="122914" cy="122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T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4E0DF6F-EAD2-D3AC-643B-D05A162FB1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6067" y="805433"/>
            <a:ext cx="4499853" cy="1767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366045-8124-805E-1E25-D4FB50914C4B}"/>
              </a:ext>
            </a:extLst>
          </p:cNvPr>
          <p:cNvSpPr txBox="1"/>
          <p:nvPr/>
        </p:nvSpPr>
        <p:spPr>
          <a:xfrm>
            <a:off x="548138" y="1043927"/>
            <a:ext cx="1097279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[1]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C. Olah, A.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Mordvintsev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and L. Schubert, \Feature Visualization,"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Distill,vol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 2, no. 11, Nov. 2017, doi: https://doi.org/10.23915/distill.00007.</a:t>
            </a:r>
            <a:b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[2] </a:t>
            </a:r>
            <a:r>
              <a:rPr lang="en-GB" dirty="0" err="1">
                <a:latin typeface="Segoe UI" panose="020B0502040204020203" pitchFamily="34" charset="0"/>
                <a:cs typeface="Segoe UI" panose="020B0502040204020203" pitchFamily="34" charset="0"/>
              </a:rPr>
              <a:t>Mordvintsev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et al.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“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Inceptionism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Going Deeper into Neural Networks,”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research.google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 https://research.google/blog/inceptionism-going-deeper-into-neural-networks/</a:t>
            </a:r>
            <a:b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[3] K. Simonyan, A. </a:t>
            </a:r>
            <a:r>
              <a:rPr lang="en-GB" dirty="0" err="1">
                <a:latin typeface="Segoe UI" panose="020B0502040204020203" pitchFamily="34" charset="0"/>
                <a:cs typeface="Segoe UI" panose="020B0502040204020203" pitchFamily="34" charset="0"/>
              </a:rPr>
              <a:t>Vedaldi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, and A. Zisserman, \Deep Inside Convolutional </a:t>
            </a:r>
            <a:r>
              <a:rPr lang="en-GB" dirty="0" err="1">
                <a:latin typeface="Segoe UI" panose="020B0502040204020203" pitchFamily="34" charset="0"/>
                <a:cs typeface="Segoe UI" panose="020B0502040204020203" pitchFamily="34" charset="0"/>
              </a:rPr>
              <a:t>Networks:Visualising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Image Classification Models and Saliency Maps," arXiv.org, 2013. https://arxiv.org/abs/1312.6034</a:t>
            </a:r>
            <a:b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[4] A. Mahendran and A. </a:t>
            </a:r>
            <a:r>
              <a:rPr lang="en-GB" dirty="0" err="1">
                <a:latin typeface="Segoe UI" panose="020B0502040204020203" pitchFamily="34" charset="0"/>
                <a:cs typeface="Segoe UI" panose="020B0502040204020203" pitchFamily="34" charset="0"/>
              </a:rPr>
              <a:t>Vedaldi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, \Visualizing Deep Convolutional Neural </a:t>
            </a:r>
            <a:r>
              <a:rPr lang="en-GB" dirty="0" err="1">
                <a:latin typeface="Segoe UI" panose="020B0502040204020203" pitchFamily="34" charset="0"/>
                <a:cs typeface="Segoe UI" panose="020B0502040204020203" pitchFamily="34" charset="0"/>
              </a:rPr>
              <a:t>NetworksUsing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Natural Pre-images," International Journal of Computer Vision, vol. 120,no. 3, pp. 233{255, May 2016, doi: https://arxiv.org/abs/1512.02017.</a:t>
            </a:r>
            <a:b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[5] A. Nguyen, J. </a:t>
            </a:r>
            <a:r>
              <a:rPr lang="en-GB" dirty="0" err="1">
                <a:latin typeface="Segoe UI" panose="020B0502040204020203" pitchFamily="34" charset="0"/>
                <a:cs typeface="Segoe UI" panose="020B0502040204020203" pitchFamily="34" charset="0"/>
              </a:rPr>
              <a:t>Yosinski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, and J. Clune, \Understanding Neural Networks </a:t>
            </a:r>
            <a:r>
              <a:rPr lang="en-GB" dirty="0" err="1">
                <a:latin typeface="Segoe UI" panose="020B0502040204020203" pitchFamily="34" charset="0"/>
                <a:cs typeface="Segoe UI" panose="020B0502040204020203" pitchFamily="34" charset="0"/>
              </a:rPr>
              <a:t>viaFeature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Visualization: A survey," arXiv.org, 2019. https://arxiv.org/abs/1904.08939</a:t>
            </a:r>
            <a:b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[6]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M. D. Zeiler and R. Fergus, \Visualizing and Understanding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ConvolutionalNetworks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," arXiv.org, 2013. https://arxiv.org/abs/1311.2901</a:t>
            </a:r>
            <a:endParaRPr lang="en-MT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191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-1" y="0"/>
            <a:ext cx="12192000" cy="6858000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D62877-0249-B54B-8E08-BF9AE8AB43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648" r="21860" b="11153"/>
          <a:stretch>
            <a:fillRect/>
          </a:stretch>
        </p:blipFill>
        <p:spPr>
          <a:xfrm>
            <a:off x="2730935" y="-135523"/>
            <a:ext cx="6730130" cy="712589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7" y="400485"/>
            <a:ext cx="9467127" cy="2527911"/>
          </a:xfrm>
        </p:spPr>
        <p:txBody>
          <a:bodyPr/>
          <a:lstStyle/>
          <a:p>
            <a:r>
              <a:rPr lang="en-GB" noProof="0" dirty="0"/>
              <a:t>THANK YOU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613063-168A-02B8-4326-BB842F3B8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075" y="3738622"/>
            <a:ext cx="9467850" cy="2527911"/>
          </a:xfrm>
        </p:spPr>
        <p:txBody>
          <a:bodyPr/>
          <a:lstStyle/>
          <a:p>
            <a:r>
              <a:rPr lang="en-GB" noProof="0" dirty="0"/>
              <a:t>david.farrugia.22@um.edu.mt</a:t>
            </a:r>
          </a:p>
          <a:p>
            <a:endParaRPr lang="en-GB" noProof="0" dirty="0"/>
          </a:p>
          <a:p>
            <a:r>
              <a:rPr lang="en-GB" b="1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DavidF-22/ARI5118-DeepLearningCV_Project</a:t>
            </a:r>
            <a:endParaRPr lang="en-GB" b="1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C1B8AE-F96B-E716-A67E-8C0F2AE6387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820" t="16131" r="7884" b="18295"/>
          <a:stretch>
            <a:fillRect/>
          </a:stretch>
        </p:blipFill>
        <p:spPr>
          <a:xfrm>
            <a:off x="1" y="6318402"/>
            <a:ext cx="1455173" cy="539598"/>
          </a:xfrm>
          <a:prstGeom prst="rect">
            <a:avLst/>
          </a:prstGeom>
        </p:spPr>
      </p:pic>
      <p:pic>
        <p:nvPicPr>
          <p:cNvPr id="2050" name="Picture 2" descr="Outline email icon with rounded corners. Envelope pictogram 55740132 Vector  Art at Vecteezy">
            <a:extLst>
              <a:ext uri="{FF2B5EF4-FFF2-40B4-BE49-F238E27FC236}">
                <a16:creationId xmlns:a16="http://schemas.microsoft.com/office/drawing/2014/main" id="{603D18EB-D7BE-8D02-D373-EDC5A02A19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18265" y1="43980" x2="23571" y2="43163"/>
                        <a14:foregroundMark x1="48980" y1="70204" x2="66531" y2="68980"/>
                        <a14:foregroundMark x1="66531" y1="68980" x2="40102" y2="64898"/>
                        <a14:foregroundMark x1="78776" y1="43061" x2="81224" y2="44490"/>
                      </a14:backgroundRemoval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47" t="18351" r="8135" b="16989"/>
          <a:stretch>
            <a:fillRect/>
          </a:stretch>
        </p:blipFill>
        <p:spPr bwMode="auto">
          <a:xfrm>
            <a:off x="4159046" y="3763468"/>
            <a:ext cx="383457" cy="291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6BD357-9E44-285E-A8E4-F2398CCC32D7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048" y="4476549"/>
            <a:ext cx="320040" cy="32004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CE8FEE-29C6-2645-EF77-D12F83E76F00}"/>
              </a:ext>
            </a:extLst>
          </p:cNvPr>
          <p:cNvCxnSpPr>
            <a:cxnSpLocks/>
          </p:cNvCxnSpPr>
          <p:nvPr/>
        </p:nvCxnSpPr>
        <p:spPr>
          <a:xfrm>
            <a:off x="2399071" y="3266440"/>
            <a:ext cx="739385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9658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C2645A-E767-4D7E-984D-234E531E4556}">
  <ds:schemaRefs>
    <ds:schemaRef ds:uri="http://purl.org/dc/elements/1.1/"/>
    <ds:schemaRef ds:uri="http://www.w3.org/XML/1998/namespace"/>
    <ds:schemaRef ds:uri="http://schemas.microsoft.com/office/infopath/2007/PartnerControls"/>
    <ds:schemaRef ds:uri="http://purl.org/dc/dcmitype/"/>
    <ds:schemaRef ds:uri="230e9df3-be65-4c73-a93b-d1236ebd677e"/>
    <ds:schemaRef ds:uri="http://schemas.openxmlformats.org/package/2006/metadata/core-properties"/>
    <ds:schemaRef ds:uri="http://purl.org/dc/terms/"/>
    <ds:schemaRef ds:uri="16c05727-aa75-4e4a-9b5f-8a80a1165891"/>
    <ds:schemaRef ds:uri="http://schemas.microsoft.com/office/2006/documentManagement/types"/>
    <ds:schemaRef ds:uri="71af3243-3dd4-4a8d-8c0d-dd76da1f02a5"/>
    <ds:schemaRef ds:uri="http://schemas.microsoft.com/sharepoint/v3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1871</TotalTime>
  <Words>758</Words>
  <Application>Microsoft Office PowerPoint</Application>
  <PresentationFormat>Widescreen</PresentationFormat>
  <Paragraphs>106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Cambria Math</vt:lpstr>
      <vt:lpstr>Segoe UI</vt:lpstr>
      <vt:lpstr>Segoe UI Bold</vt:lpstr>
      <vt:lpstr>Segoe UI Semibold</vt:lpstr>
      <vt:lpstr>Wingdings</vt:lpstr>
      <vt:lpstr>Custom</vt:lpstr>
      <vt:lpstr>CNN Feature Visualisation and DEEP DREAM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Farrugia</dc:creator>
  <cp:lastModifiedBy>David Farrugia</cp:lastModifiedBy>
  <cp:revision>73</cp:revision>
  <dcterms:created xsi:type="dcterms:W3CDTF">2026-04-19T21:47:42Z</dcterms:created>
  <dcterms:modified xsi:type="dcterms:W3CDTF">2026-05-14T18:54:08Z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